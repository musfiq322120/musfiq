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67" r:id="rId2"/>
    <p:sldId id="256" r:id="rId3"/>
    <p:sldId id="257" r:id="rId4"/>
    <p:sldId id="258" r:id="rId5"/>
    <p:sldId id="259" r:id="rId6"/>
    <p:sldId id="260" r:id="rId7"/>
    <p:sldId id="261" r:id="rId8"/>
    <p:sldId id="262" r:id="rId9"/>
    <p:sldId id="263" r:id="rId10"/>
    <p:sldId id="264" r:id="rId11"/>
    <p:sldId id="265" r:id="rId12"/>
    <p:sldId id="268" r:id="rId13"/>
  </p:sldIdLst>
  <p:sldSz cx="14630400" cy="8229600"/>
  <p:notesSz cx="8229600" cy="14630400"/>
  <p:embeddedFontLst>
    <p:embeddedFont>
      <p:font typeface="Calibri" panose="020F0502020204030204" pitchFamily="34" charset="0"/>
      <p:regular r:id="rId15"/>
      <p:bold r:id="rId16"/>
      <p:italic r:id="rId17"/>
      <p:boldItalic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2" autoAdjust="0"/>
    <p:restoredTop sz="94610"/>
  </p:normalViewPr>
  <p:slideViewPr>
    <p:cSldViewPr snapToGrid="0" snapToObjects="1">
      <p:cViewPr>
        <p:scale>
          <a:sx n="50" d="100"/>
          <a:sy n="50" d="100"/>
        </p:scale>
        <p:origin x="1522" y="5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82171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4DF37B2-6C68-4B5B-978D-198D354A1299}"/>
              </a:ext>
            </a:extLst>
          </p:cNvPr>
          <p:cNvSpPr/>
          <p:nvPr/>
        </p:nvSpPr>
        <p:spPr>
          <a:xfrm>
            <a:off x="0" y="0"/>
            <a:ext cx="14630393" cy="82296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2" name="Rectangle: Rounded Corners 1">
            <a:extLst>
              <a:ext uri="{FF2B5EF4-FFF2-40B4-BE49-F238E27FC236}">
                <a16:creationId xmlns:a16="http://schemas.microsoft.com/office/drawing/2014/main" id="{733AEFE8-270F-4076-B521-4E9BBF943D22}"/>
              </a:ext>
            </a:extLst>
          </p:cNvPr>
          <p:cNvSpPr/>
          <p:nvPr/>
        </p:nvSpPr>
        <p:spPr>
          <a:xfrm>
            <a:off x="8594618" y="3449977"/>
            <a:ext cx="4858560" cy="4317296"/>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sp>
        <p:nvSpPr>
          <p:cNvPr id="5" name="Text Placeholder 7">
            <a:extLst>
              <a:ext uri="{FF2B5EF4-FFF2-40B4-BE49-F238E27FC236}">
                <a16:creationId xmlns:a16="http://schemas.microsoft.com/office/drawing/2014/main" id="{D4DD3B3B-A432-4036-BD81-BEBC91C7BB09}"/>
              </a:ext>
            </a:extLst>
          </p:cNvPr>
          <p:cNvSpPr txBox="1">
            <a:spLocks/>
          </p:cNvSpPr>
          <p:nvPr/>
        </p:nvSpPr>
        <p:spPr>
          <a:xfrm>
            <a:off x="8959167" y="3700632"/>
            <a:ext cx="4799323" cy="3980333"/>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800" b="1" dirty="0">
                <a:solidFill>
                  <a:schemeClr val="bg1"/>
                </a:solidFill>
                <a:latin typeface="Times New Roman" panose="02020603050405020304" pitchFamily="18" charset="0"/>
                <a:cs typeface="Times New Roman" panose="02020603050405020304" pitchFamily="18" charset="0"/>
              </a:rPr>
              <a:t>Supervised By: </a:t>
            </a:r>
          </a:p>
          <a:p>
            <a:pPr marL="0" indent="0">
              <a:buNone/>
            </a:pPr>
            <a:r>
              <a:rPr lang="en-US" sz="2800" b="1" dirty="0">
                <a:solidFill>
                  <a:schemeClr val="bg1"/>
                </a:solidFill>
                <a:latin typeface="Times New Roman" panose="02020603050405020304" pitchFamily="18" charset="0"/>
                <a:cs typeface="Times New Roman" panose="02020603050405020304" pitchFamily="18" charset="0"/>
              </a:rPr>
              <a:t>Dr. Nazrul Islam</a:t>
            </a:r>
          </a:p>
          <a:p>
            <a:pPr marL="0" indent="0">
              <a:buNone/>
            </a:pPr>
            <a:r>
              <a:rPr lang="en-US" sz="2800" b="1" dirty="0">
                <a:solidFill>
                  <a:schemeClr val="bg1"/>
                </a:solidFill>
                <a:latin typeface="Times New Roman" panose="02020603050405020304" pitchFamily="18" charset="0"/>
                <a:cs typeface="Times New Roman" panose="02020603050405020304" pitchFamily="18" charset="0"/>
              </a:rPr>
              <a:t>Associate Professor</a:t>
            </a:r>
          </a:p>
          <a:p>
            <a:pPr marL="0" indent="0">
              <a:buNone/>
            </a:pPr>
            <a:endParaRPr lang="en-US" sz="2800" b="1" dirty="0">
              <a:solidFill>
                <a:schemeClr val="bg1"/>
              </a:solidFill>
              <a:latin typeface="Times New Roman" panose="02020603050405020304" pitchFamily="18" charset="0"/>
              <a:cs typeface="Times New Roman" panose="02020603050405020304" pitchFamily="18" charset="0"/>
            </a:endParaRPr>
          </a:p>
          <a:p>
            <a:pPr marL="0" indent="0">
              <a:buNone/>
            </a:pPr>
            <a:r>
              <a:rPr lang="en-US" sz="2800" b="1" dirty="0">
                <a:solidFill>
                  <a:schemeClr val="bg1"/>
                </a:solidFill>
                <a:latin typeface="Times New Roman" panose="02020603050405020304" pitchFamily="18" charset="0"/>
                <a:cs typeface="Times New Roman" panose="02020603050405020304" pitchFamily="18" charset="0"/>
              </a:rPr>
              <a:t>Department of ICT, </a:t>
            </a:r>
          </a:p>
          <a:p>
            <a:pPr marL="0" indent="0">
              <a:buNone/>
            </a:pPr>
            <a:r>
              <a:rPr lang="en-US" sz="2800" b="1" dirty="0">
                <a:solidFill>
                  <a:schemeClr val="bg1"/>
                </a:solidFill>
                <a:latin typeface="Times New Roman" panose="02020603050405020304" pitchFamily="18" charset="0"/>
                <a:cs typeface="Times New Roman" panose="02020603050405020304" pitchFamily="18" charset="0"/>
              </a:rPr>
              <a:t>MBSTU</a:t>
            </a:r>
          </a:p>
        </p:txBody>
      </p:sp>
      <p:cxnSp>
        <p:nvCxnSpPr>
          <p:cNvPr id="6" name="Straight Connector 5">
            <a:extLst>
              <a:ext uri="{FF2B5EF4-FFF2-40B4-BE49-F238E27FC236}">
                <a16:creationId xmlns:a16="http://schemas.microsoft.com/office/drawing/2014/main" id="{DD74CB4C-A55E-4072-BEA4-D012348A8F4A}"/>
              </a:ext>
            </a:extLst>
          </p:cNvPr>
          <p:cNvCxnSpPr>
            <a:cxnSpLocks/>
          </p:cNvCxnSpPr>
          <p:nvPr/>
        </p:nvCxnSpPr>
        <p:spPr>
          <a:xfrm>
            <a:off x="7353428" y="3394038"/>
            <a:ext cx="0" cy="4328847"/>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626EED8A-AE05-45CF-B881-6A31779BA0B3}"/>
              </a:ext>
            </a:extLst>
          </p:cNvPr>
          <p:cNvCxnSpPr>
            <a:cxnSpLocks/>
          </p:cNvCxnSpPr>
          <p:nvPr/>
        </p:nvCxnSpPr>
        <p:spPr>
          <a:xfrm>
            <a:off x="7591310" y="4087245"/>
            <a:ext cx="0" cy="3042761"/>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F3CCE69F-8480-41F7-8F2B-081CCAB70ED2}"/>
              </a:ext>
            </a:extLst>
          </p:cNvPr>
          <p:cNvCxnSpPr>
            <a:cxnSpLocks/>
          </p:cNvCxnSpPr>
          <p:nvPr/>
        </p:nvCxnSpPr>
        <p:spPr>
          <a:xfrm>
            <a:off x="7091490" y="4058425"/>
            <a:ext cx="0" cy="3048432"/>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sp>
        <p:nvSpPr>
          <p:cNvPr id="10" name="Rectangle: Rounded Corners 9">
            <a:extLst>
              <a:ext uri="{FF2B5EF4-FFF2-40B4-BE49-F238E27FC236}">
                <a16:creationId xmlns:a16="http://schemas.microsoft.com/office/drawing/2014/main" id="{CADD15C8-ADF1-476F-BCDA-B25957DA6F64}"/>
              </a:ext>
            </a:extLst>
          </p:cNvPr>
          <p:cNvSpPr/>
          <p:nvPr/>
        </p:nvSpPr>
        <p:spPr>
          <a:xfrm>
            <a:off x="1055736" y="892721"/>
            <a:ext cx="12403529" cy="2162451"/>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marL="0" indent="0">
              <a:buNone/>
            </a:pPr>
            <a:r>
              <a:rPr lang="en-US" sz="3000" b="1" dirty="0">
                <a:solidFill>
                  <a:schemeClr val="bg1"/>
                </a:solidFill>
                <a:latin typeface="Times New Roman" panose="02020603050405020304" pitchFamily="18" charset="0"/>
                <a:cs typeface="Times New Roman" panose="02020603050405020304" pitchFamily="18" charset="0"/>
              </a:rPr>
              <a:t>PRESENTATION TOPIC: HISTORY OF INTERNET </a:t>
            </a:r>
          </a:p>
          <a:p>
            <a:pPr marL="0" indent="0">
              <a:buNone/>
            </a:pPr>
            <a:r>
              <a:rPr lang="en-US" sz="3000" b="1" dirty="0">
                <a:solidFill>
                  <a:schemeClr val="bg1"/>
                </a:solidFill>
                <a:latin typeface="Times New Roman" panose="02020603050405020304" pitchFamily="18" charset="0"/>
                <a:cs typeface="Times New Roman" panose="02020603050405020304" pitchFamily="18" charset="0"/>
              </a:rPr>
              <a:t>Course Title: English Language and Literature</a:t>
            </a:r>
          </a:p>
          <a:p>
            <a:pPr marL="0" indent="0">
              <a:buNone/>
            </a:pPr>
            <a:r>
              <a:rPr lang="en-US" sz="3000" b="1" dirty="0">
                <a:solidFill>
                  <a:schemeClr val="bg1"/>
                </a:solidFill>
                <a:latin typeface="Times New Roman" panose="02020603050405020304" pitchFamily="18" charset="0"/>
                <a:cs typeface="Times New Roman" panose="02020603050405020304" pitchFamily="18" charset="0"/>
              </a:rPr>
              <a:t>Course Code: ICT-1211</a:t>
            </a:r>
          </a:p>
        </p:txBody>
      </p:sp>
      <p:sp>
        <p:nvSpPr>
          <p:cNvPr id="11" name="Rectangle: Rounded Corners 10">
            <a:extLst>
              <a:ext uri="{FF2B5EF4-FFF2-40B4-BE49-F238E27FC236}">
                <a16:creationId xmlns:a16="http://schemas.microsoft.com/office/drawing/2014/main" id="{0434D060-22C1-4A14-8457-375FDE5549B8}"/>
              </a:ext>
            </a:extLst>
          </p:cNvPr>
          <p:cNvSpPr/>
          <p:nvPr/>
        </p:nvSpPr>
        <p:spPr>
          <a:xfrm>
            <a:off x="1055736" y="3449977"/>
            <a:ext cx="4858560" cy="4317296"/>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sp>
        <p:nvSpPr>
          <p:cNvPr id="12" name="Text Placeholder 7">
            <a:extLst>
              <a:ext uri="{FF2B5EF4-FFF2-40B4-BE49-F238E27FC236}">
                <a16:creationId xmlns:a16="http://schemas.microsoft.com/office/drawing/2014/main" id="{109EE8BA-6AB9-4ADA-9ABC-4E19F9B80D12}"/>
              </a:ext>
            </a:extLst>
          </p:cNvPr>
          <p:cNvSpPr txBox="1">
            <a:spLocks/>
          </p:cNvSpPr>
          <p:nvPr/>
        </p:nvSpPr>
        <p:spPr>
          <a:xfrm>
            <a:off x="1388920" y="3700632"/>
            <a:ext cx="4799323" cy="3980333"/>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800" b="1" dirty="0">
                <a:solidFill>
                  <a:schemeClr val="bg1"/>
                </a:solidFill>
                <a:latin typeface="Times New Roman" panose="02020603050405020304" pitchFamily="18" charset="0"/>
                <a:cs typeface="Times New Roman" panose="02020603050405020304" pitchFamily="18" charset="0"/>
              </a:rPr>
              <a:t>Presented By: </a:t>
            </a:r>
          </a:p>
          <a:p>
            <a:pPr marL="0" indent="0">
              <a:buNone/>
            </a:pPr>
            <a:r>
              <a:rPr lang="en-US" sz="2800" b="1" dirty="0" err="1">
                <a:solidFill>
                  <a:schemeClr val="bg1"/>
                </a:solidFill>
                <a:latin typeface="Times New Roman" panose="02020603050405020304" pitchFamily="18" charset="0"/>
                <a:cs typeface="Times New Roman" panose="02020603050405020304" pitchFamily="18" charset="0"/>
              </a:rPr>
              <a:t>Musfiq</a:t>
            </a:r>
            <a:r>
              <a:rPr lang="en-US" sz="2800" b="1" dirty="0">
                <a:solidFill>
                  <a:schemeClr val="bg1"/>
                </a:solidFill>
                <a:latin typeface="Times New Roman" panose="02020603050405020304" pitchFamily="18" charset="0"/>
                <a:cs typeface="Times New Roman" panose="02020603050405020304" pitchFamily="18" charset="0"/>
              </a:rPr>
              <a:t> </a:t>
            </a:r>
            <a:r>
              <a:rPr lang="en-US" sz="2800" b="1" dirty="0" err="1">
                <a:solidFill>
                  <a:schemeClr val="bg1"/>
                </a:solidFill>
                <a:latin typeface="Times New Roman" panose="02020603050405020304" pitchFamily="18" charset="0"/>
                <a:cs typeface="Times New Roman" panose="02020603050405020304" pitchFamily="18" charset="0"/>
              </a:rPr>
              <a:t>Alam</a:t>
            </a:r>
            <a:endParaRPr lang="en-US" sz="2800" b="1" dirty="0">
              <a:solidFill>
                <a:schemeClr val="bg1"/>
              </a:solidFill>
              <a:latin typeface="Times New Roman" panose="02020603050405020304" pitchFamily="18" charset="0"/>
              <a:cs typeface="Times New Roman" panose="02020603050405020304" pitchFamily="18" charset="0"/>
            </a:endParaRPr>
          </a:p>
          <a:p>
            <a:pPr marL="0" indent="0">
              <a:buNone/>
            </a:pPr>
            <a:r>
              <a:rPr lang="en-US" sz="2800" b="1" dirty="0">
                <a:solidFill>
                  <a:schemeClr val="bg1"/>
                </a:solidFill>
                <a:latin typeface="Times New Roman" panose="02020603050405020304" pitchFamily="18" charset="0"/>
                <a:cs typeface="Times New Roman" panose="02020603050405020304" pitchFamily="18" charset="0"/>
              </a:rPr>
              <a:t>ID: IT 25054</a:t>
            </a:r>
          </a:p>
          <a:p>
            <a:pPr marL="0" indent="0">
              <a:buNone/>
            </a:pPr>
            <a:endParaRPr lang="en-US" sz="2800" b="1" dirty="0">
              <a:solidFill>
                <a:schemeClr val="bg1"/>
              </a:solidFill>
              <a:latin typeface="Times New Roman" panose="02020603050405020304" pitchFamily="18" charset="0"/>
              <a:cs typeface="Times New Roman" panose="02020603050405020304" pitchFamily="18" charset="0"/>
            </a:endParaRPr>
          </a:p>
          <a:p>
            <a:pPr marL="0" indent="0">
              <a:buNone/>
            </a:pPr>
            <a:r>
              <a:rPr lang="en-US" sz="2800" b="1" dirty="0">
                <a:solidFill>
                  <a:schemeClr val="bg1"/>
                </a:solidFill>
                <a:latin typeface="Times New Roman" panose="02020603050405020304" pitchFamily="18" charset="0"/>
                <a:cs typeface="Times New Roman" panose="02020603050405020304" pitchFamily="18" charset="0"/>
              </a:rPr>
              <a:t>Department of ICT, </a:t>
            </a:r>
          </a:p>
          <a:p>
            <a:pPr marL="0" indent="0">
              <a:buNone/>
            </a:pPr>
            <a:r>
              <a:rPr lang="en-US" sz="2800" b="1" dirty="0">
                <a:solidFill>
                  <a:schemeClr val="bg1"/>
                </a:solidFill>
                <a:latin typeface="Times New Roman" panose="02020603050405020304" pitchFamily="18" charset="0"/>
                <a:cs typeface="Times New Roman" panose="02020603050405020304" pitchFamily="18" charset="0"/>
              </a:rPr>
              <a:t>MBSTU</a:t>
            </a:r>
          </a:p>
        </p:txBody>
      </p:sp>
    </p:spTree>
    <p:extLst>
      <p:ext uri="{BB962C8B-B14F-4D97-AF65-F5344CB8AC3E}">
        <p14:creationId xmlns:p14="http://schemas.microsoft.com/office/powerpoint/2010/main" val="29253053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89" y="1237494"/>
            <a:ext cx="8060844" cy="2211762"/>
          </a:xfrm>
          <a:prstGeom prst="rect">
            <a:avLst/>
          </a:prstGeom>
          <a:noFill/>
          <a:ln/>
        </p:spPr>
        <p:txBody>
          <a:bodyPr wrap="square" lIns="0" tIns="0" rIns="0" bIns="0" rtlCol="0" anchor="t"/>
          <a:lstStyle/>
          <a:p>
            <a:pPr marL="0" indent="0" algn="l">
              <a:lnSpc>
                <a:spcPts val="4850"/>
              </a:lnSpc>
              <a:buNone/>
            </a:pPr>
            <a:r>
              <a:rPr lang="en-US" sz="5400" b="1" dirty="0">
                <a:solidFill>
                  <a:srgbClr val="333F70"/>
                </a:solidFill>
                <a:latin typeface="Times New Roman" panose="02020603050405020304" pitchFamily="18" charset="0"/>
                <a:ea typeface="Verdana" panose="020B0604030504040204" pitchFamily="34" charset="0"/>
                <a:cs typeface="Times New Roman" panose="02020603050405020304" pitchFamily="18" charset="0"/>
              </a:rPr>
              <a:t>The Amazing Journey of the Internet</a:t>
            </a:r>
            <a:endParaRPr lang="en-US" sz="5400"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4" name="Text 1"/>
          <p:cNvSpPr/>
          <p:nvPr/>
        </p:nvSpPr>
        <p:spPr>
          <a:xfrm>
            <a:off x="793789" y="2972946"/>
            <a:ext cx="7556421" cy="2681094"/>
          </a:xfrm>
          <a:prstGeom prst="rect">
            <a:avLst/>
          </a:prstGeom>
          <a:noFill/>
          <a:ln/>
        </p:spPr>
        <p:txBody>
          <a:bodyPr wrap="square" lIns="0" tIns="0" rIns="0" bIns="0" rtlCol="0" anchor="t"/>
          <a:lstStyle/>
          <a:p>
            <a:pPr marL="0" indent="0" algn="l">
              <a:buNone/>
            </a:pPr>
            <a:r>
              <a:rPr lang="en-US" sz="3200" dirty="0">
                <a:solidFill>
                  <a:srgbClr val="333F70"/>
                </a:solidFill>
                <a:latin typeface="Times New Roman" panose="02020603050405020304" pitchFamily="18" charset="0"/>
                <a:ea typeface="Open Sans" pitchFamily="34" charset="-122"/>
                <a:cs typeface="Times New Roman" panose="02020603050405020304" pitchFamily="18" charset="0"/>
              </a:rPr>
              <a:t> A clear, human-centred tour through how the internet began and grew into the global network we use today. This presentation uses simple language, key dates, and images to make the story easy to follow.</a:t>
            </a:r>
            <a:endParaRPr lang="en-US" sz="3200" dirty="0">
              <a:latin typeface="Times New Roman" panose="02020603050405020304" pitchFamily="18" charset="0"/>
              <a:cs typeface="Times New Roman" panose="02020603050405020304" pitchFamily="18" charset="0"/>
            </a:endParaRPr>
          </a:p>
        </p:txBody>
      </p:sp>
      <p:sp>
        <p:nvSpPr>
          <p:cNvPr id="5" name="Text Placeholder 7">
            <a:extLst>
              <a:ext uri="{FF2B5EF4-FFF2-40B4-BE49-F238E27FC236}">
                <a16:creationId xmlns:a16="http://schemas.microsoft.com/office/drawing/2014/main" id="{1B3387EB-9A98-4EC1-9991-DF40B901F11C}"/>
              </a:ext>
            </a:extLst>
          </p:cNvPr>
          <p:cNvSpPr txBox="1">
            <a:spLocks/>
          </p:cNvSpPr>
          <p:nvPr/>
        </p:nvSpPr>
        <p:spPr>
          <a:xfrm>
            <a:off x="131568" y="7767438"/>
            <a:ext cx="4799323" cy="3980333"/>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a:latin typeface="Times New Roman" panose="02020603050405020304" pitchFamily="18" charset="0"/>
                <a:cs typeface="Times New Roman" panose="02020603050405020304" pitchFamily="18" charset="0"/>
              </a:rPr>
              <a:t>Reference: Imperial (1)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695691" y="438785"/>
            <a:ext cx="11239018" cy="1098612"/>
          </a:xfrm>
          <a:prstGeom prst="rect">
            <a:avLst/>
          </a:prstGeom>
          <a:noFill/>
          <a:ln/>
        </p:spPr>
        <p:txBody>
          <a:bodyPr wrap="none" lIns="0" tIns="0" rIns="0" bIns="0" rtlCol="0" anchor="t"/>
          <a:lstStyle/>
          <a:p>
            <a:pPr marL="0" indent="0" algn="ctr">
              <a:lnSpc>
                <a:spcPts val="3900"/>
              </a:lnSpc>
              <a:buNone/>
            </a:pPr>
            <a:r>
              <a:rPr lang="en-US" sz="5000" b="1" dirty="0">
                <a:solidFill>
                  <a:srgbClr val="333F70"/>
                </a:solidFill>
                <a:latin typeface="Times New Roman" panose="02020603050405020304" pitchFamily="18" charset="0"/>
                <a:ea typeface="Verdana" panose="020B0604030504040204" pitchFamily="34" charset="0"/>
                <a:cs typeface="Times New Roman" panose="02020603050405020304" pitchFamily="18" charset="0"/>
              </a:rPr>
              <a:t>From Ideas to Connections: </a:t>
            </a:r>
          </a:p>
          <a:p>
            <a:pPr marL="0" indent="0" algn="ctr">
              <a:lnSpc>
                <a:spcPts val="3900"/>
              </a:lnSpc>
              <a:buNone/>
            </a:pPr>
            <a:r>
              <a:rPr lang="en-US" sz="5000" b="1" dirty="0">
                <a:solidFill>
                  <a:srgbClr val="333F70"/>
                </a:solidFill>
                <a:latin typeface="Times New Roman" panose="02020603050405020304" pitchFamily="18" charset="0"/>
                <a:ea typeface="Verdana" panose="020B0604030504040204" pitchFamily="34" charset="0"/>
                <a:cs typeface="Times New Roman" panose="02020603050405020304" pitchFamily="18" charset="0"/>
              </a:rPr>
              <a:t>The Very Beginning</a:t>
            </a:r>
            <a:endParaRPr lang="en-US" sz="5000" dirty="0">
              <a:latin typeface="Times New Roman" panose="02020603050405020304" pitchFamily="18" charset="0"/>
              <a:ea typeface="Verdana" panose="020B0604030504040204" pitchFamily="34" charset="0"/>
              <a:cs typeface="Times New Roman" panose="02020603050405020304" pitchFamily="18" charset="0"/>
            </a:endParaRPr>
          </a:p>
        </p:txBody>
      </p:sp>
      <p:pic>
        <p:nvPicPr>
          <p:cNvPr id="3" name="Image 0" descr="preencoded.png"/>
          <p:cNvPicPr>
            <a:picLocks noChangeAspect="1"/>
          </p:cNvPicPr>
          <p:nvPr/>
        </p:nvPicPr>
        <p:blipFill>
          <a:blip r:embed="rId3"/>
          <a:stretch>
            <a:fillRect/>
          </a:stretch>
        </p:blipFill>
        <p:spPr>
          <a:xfrm>
            <a:off x="1681920" y="1682859"/>
            <a:ext cx="1854829" cy="1146215"/>
          </a:xfrm>
          <a:prstGeom prst="rect">
            <a:avLst/>
          </a:prstGeom>
        </p:spPr>
      </p:pic>
      <p:sp>
        <p:nvSpPr>
          <p:cNvPr id="4" name="Text 1"/>
          <p:cNvSpPr/>
          <p:nvPr/>
        </p:nvSpPr>
        <p:spPr>
          <a:xfrm>
            <a:off x="1102241" y="2954820"/>
            <a:ext cx="3014186" cy="620316"/>
          </a:xfrm>
          <a:prstGeom prst="rect">
            <a:avLst/>
          </a:prstGeom>
          <a:noFill/>
          <a:ln/>
        </p:spPr>
        <p:txBody>
          <a:bodyPr wrap="square" lIns="0" tIns="0" rIns="0" bIns="0" rtlCol="0" anchor="t"/>
          <a:lstStyle/>
          <a:p>
            <a:pPr marL="0" indent="0" algn="ctr">
              <a:buNone/>
            </a:pPr>
            <a:r>
              <a:rPr lang="en-US" sz="3200" b="1" dirty="0">
                <a:solidFill>
                  <a:srgbClr val="333F70"/>
                </a:solidFill>
                <a:latin typeface="Times New Roman" panose="02020603050405020304" pitchFamily="18" charset="0"/>
                <a:ea typeface="Verdana" panose="020B0604030504040204" pitchFamily="34" charset="0"/>
                <a:cs typeface="Times New Roman" panose="02020603050405020304" pitchFamily="18" charset="0"/>
              </a:rPr>
              <a:t>The Spark of an Idea (1945)</a:t>
            </a:r>
            <a:endParaRPr lang="en-US" sz="3200"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5" name="Text 2"/>
          <p:cNvSpPr/>
          <p:nvPr/>
        </p:nvSpPr>
        <p:spPr>
          <a:xfrm>
            <a:off x="723847" y="4101315"/>
            <a:ext cx="3770973" cy="2616290"/>
          </a:xfrm>
          <a:prstGeom prst="rect">
            <a:avLst/>
          </a:prstGeom>
          <a:noFill/>
          <a:ln/>
        </p:spPr>
        <p:txBody>
          <a:bodyPr wrap="square" lIns="0" tIns="0" rIns="0" bIns="0" rtlCol="0" anchor="t"/>
          <a:lstStyle/>
          <a:p>
            <a:pPr marL="0" indent="0" algn="ctr">
              <a:buNone/>
            </a:pPr>
            <a:r>
              <a:rPr lang="en-US" sz="2400" dirty="0">
                <a:solidFill>
                  <a:srgbClr val="333F70"/>
                </a:solidFill>
                <a:latin typeface="Times New Roman" panose="02020603050405020304" pitchFamily="18" charset="0"/>
                <a:ea typeface="Open Sans" pitchFamily="34" charset="-122"/>
                <a:cs typeface="Times New Roman" panose="02020603050405020304" pitchFamily="18" charset="0"/>
              </a:rPr>
              <a:t>Vannevar Bush described the "Memex", a hypothetical machine for storing and linking information — an early vision of networked knowledge.</a:t>
            </a:r>
            <a:endParaRPr lang="en-US" sz="2400" dirty="0">
              <a:latin typeface="Times New Roman" panose="02020603050405020304" pitchFamily="18" charset="0"/>
              <a:cs typeface="Times New Roman" panose="02020603050405020304" pitchFamily="18" charset="0"/>
            </a:endParaRPr>
          </a:p>
        </p:txBody>
      </p:sp>
      <p:pic>
        <p:nvPicPr>
          <p:cNvPr id="6" name="Image 1" descr="preencoded.png"/>
          <p:cNvPicPr>
            <a:picLocks noChangeAspect="1"/>
          </p:cNvPicPr>
          <p:nvPr/>
        </p:nvPicPr>
        <p:blipFill>
          <a:blip r:embed="rId4"/>
          <a:stretch>
            <a:fillRect/>
          </a:stretch>
        </p:blipFill>
        <p:spPr>
          <a:xfrm>
            <a:off x="6787763" y="1779123"/>
            <a:ext cx="1854829" cy="1146215"/>
          </a:xfrm>
          <a:prstGeom prst="rect">
            <a:avLst/>
          </a:prstGeom>
        </p:spPr>
      </p:pic>
      <p:sp>
        <p:nvSpPr>
          <p:cNvPr id="7" name="Text 3"/>
          <p:cNvSpPr/>
          <p:nvPr/>
        </p:nvSpPr>
        <p:spPr>
          <a:xfrm>
            <a:off x="6208027" y="2957510"/>
            <a:ext cx="3014305" cy="1155503"/>
          </a:xfrm>
          <a:prstGeom prst="rect">
            <a:avLst/>
          </a:prstGeom>
          <a:noFill/>
          <a:ln/>
        </p:spPr>
        <p:txBody>
          <a:bodyPr wrap="square" lIns="0" tIns="0" rIns="0" bIns="0" rtlCol="0" anchor="t"/>
          <a:lstStyle/>
          <a:p>
            <a:pPr marL="0" indent="0" algn="ctr">
              <a:buNone/>
            </a:pPr>
            <a:r>
              <a:rPr lang="en-US" sz="3200" b="1" dirty="0">
                <a:solidFill>
                  <a:srgbClr val="333F70"/>
                </a:solidFill>
                <a:latin typeface="Times New Roman" panose="02020603050405020304" pitchFamily="18" charset="0"/>
                <a:ea typeface="Verdana" panose="020B0604030504040204" pitchFamily="34" charset="0"/>
                <a:cs typeface="Times New Roman" panose="02020603050405020304" pitchFamily="18" charset="0"/>
              </a:rPr>
              <a:t>Early Research (1960s)</a:t>
            </a:r>
            <a:endParaRPr lang="en-US" sz="3200"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8" name="Text 4"/>
          <p:cNvSpPr/>
          <p:nvPr/>
        </p:nvSpPr>
        <p:spPr>
          <a:xfrm>
            <a:off x="5933274" y="4115445"/>
            <a:ext cx="3563809" cy="1905238"/>
          </a:xfrm>
          <a:prstGeom prst="rect">
            <a:avLst/>
          </a:prstGeom>
          <a:noFill/>
          <a:ln/>
        </p:spPr>
        <p:txBody>
          <a:bodyPr wrap="square" lIns="0" tIns="0" rIns="0" bIns="0" rtlCol="0" anchor="t"/>
          <a:lstStyle/>
          <a:p>
            <a:pPr marL="0" indent="0" algn="ctr">
              <a:buNone/>
            </a:pPr>
            <a:r>
              <a:rPr lang="en-US" sz="2400" dirty="0">
                <a:solidFill>
                  <a:srgbClr val="333F70"/>
                </a:solidFill>
                <a:latin typeface="Times New Roman" panose="02020603050405020304" pitchFamily="18" charset="0"/>
                <a:ea typeface="Open Sans" pitchFamily="34" charset="-122"/>
                <a:cs typeface="Times New Roman" panose="02020603050405020304" pitchFamily="18" charset="0"/>
              </a:rPr>
              <a:t>ARPA (Advanced Research Projects Agency) funded research into connecting different computer systems — laying groundwork for shared networks.</a:t>
            </a:r>
            <a:endParaRPr lang="en-US" sz="2400" dirty="0">
              <a:latin typeface="Times New Roman" panose="02020603050405020304" pitchFamily="18" charset="0"/>
              <a:cs typeface="Times New Roman" panose="02020603050405020304" pitchFamily="18" charset="0"/>
            </a:endParaRPr>
          </a:p>
        </p:txBody>
      </p:sp>
      <p:pic>
        <p:nvPicPr>
          <p:cNvPr id="9" name="Image 2" descr="preencoded.png"/>
          <p:cNvPicPr>
            <a:picLocks noChangeAspect="1"/>
          </p:cNvPicPr>
          <p:nvPr/>
        </p:nvPicPr>
        <p:blipFill>
          <a:blip r:embed="rId5"/>
          <a:stretch>
            <a:fillRect/>
          </a:stretch>
        </p:blipFill>
        <p:spPr>
          <a:xfrm>
            <a:off x="11814227" y="1861012"/>
            <a:ext cx="1589802" cy="982438"/>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10" name="Text 5"/>
          <p:cNvSpPr/>
          <p:nvPr/>
        </p:nvSpPr>
        <p:spPr>
          <a:xfrm>
            <a:off x="11231066" y="2999592"/>
            <a:ext cx="3014305" cy="620316"/>
          </a:xfrm>
          <a:prstGeom prst="rect">
            <a:avLst/>
          </a:prstGeom>
          <a:noFill/>
          <a:ln/>
        </p:spPr>
        <p:txBody>
          <a:bodyPr wrap="square" lIns="0" tIns="0" rIns="0" bIns="0" rtlCol="0" anchor="t"/>
          <a:lstStyle/>
          <a:p>
            <a:pPr marL="0" indent="0" algn="ctr">
              <a:buNone/>
            </a:pPr>
            <a:r>
              <a:rPr lang="en-US" sz="3200" b="1" dirty="0">
                <a:solidFill>
                  <a:srgbClr val="333F70"/>
                </a:solidFill>
                <a:latin typeface="Times New Roman" panose="02020603050405020304" pitchFamily="18" charset="0"/>
                <a:ea typeface="Verdana" panose="020B0604030504040204" pitchFamily="34" charset="0"/>
                <a:cs typeface="Times New Roman" panose="02020603050405020304" pitchFamily="18" charset="0"/>
              </a:rPr>
              <a:t>ARPANET Launched (1969)</a:t>
            </a:r>
            <a:endParaRPr lang="en-US" sz="3200"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11" name="Text 6"/>
          <p:cNvSpPr/>
          <p:nvPr/>
        </p:nvSpPr>
        <p:spPr>
          <a:xfrm>
            <a:off x="10559502" y="4115445"/>
            <a:ext cx="3813635" cy="1587698"/>
          </a:xfrm>
          <a:prstGeom prst="rect">
            <a:avLst/>
          </a:prstGeom>
          <a:noFill/>
          <a:ln/>
        </p:spPr>
        <p:txBody>
          <a:bodyPr wrap="square" lIns="0" tIns="0" rIns="0" bIns="0" rtlCol="0" anchor="t"/>
          <a:lstStyle/>
          <a:p>
            <a:pPr marL="0" indent="0" algn="ctr">
              <a:buNone/>
            </a:pPr>
            <a:r>
              <a:rPr lang="en-US" sz="2400" dirty="0">
                <a:solidFill>
                  <a:srgbClr val="333F70"/>
                </a:solidFill>
                <a:latin typeface="Times New Roman" panose="02020603050405020304" pitchFamily="18" charset="0"/>
                <a:ea typeface="Open Sans" pitchFamily="34" charset="-122"/>
                <a:cs typeface="Times New Roman" panose="02020603050405020304" pitchFamily="18" charset="0"/>
              </a:rPr>
              <a:t>The first packet-switched network connected four sites, proving computers could exchange data reliably across distances.</a:t>
            </a:r>
            <a:endParaRPr lang="en-US" sz="2400" dirty="0">
              <a:latin typeface="Times New Roman" panose="02020603050405020304" pitchFamily="18" charset="0"/>
              <a:cs typeface="Times New Roman" panose="02020603050405020304" pitchFamily="18" charset="0"/>
            </a:endParaRPr>
          </a:p>
        </p:txBody>
      </p:sp>
      <p:sp>
        <p:nvSpPr>
          <p:cNvPr id="12" name="Text 7"/>
          <p:cNvSpPr/>
          <p:nvPr/>
        </p:nvSpPr>
        <p:spPr>
          <a:xfrm>
            <a:off x="907856" y="7466357"/>
            <a:ext cx="13042821" cy="317540"/>
          </a:xfrm>
          <a:prstGeom prst="rect">
            <a:avLst/>
          </a:prstGeom>
          <a:noFill/>
          <a:ln/>
        </p:spPr>
        <p:txBody>
          <a:bodyPr wrap="none" lIns="0" tIns="0" rIns="0" bIns="0" rtlCol="0" anchor="t"/>
          <a:lstStyle/>
          <a:p>
            <a:pPr marL="0" indent="0" algn="l">
              <a:lnSpc>
                <a:spcPts val="2500"/>
              </a:lnSpc>
              <a:buNone/>
            </a:pPr>
            <a:r>
              <a:rPr lang="en-US" sz="2000" dirty="0">
                <a:solidFill>
                  <a:srgbClr val="333F70"/>
                </a:solidFill>
                <a:latin typeface="Times New Roman" panose="02020603050405020304" pitchFamily="18" charset="0"/>
                <a:ea typeface="Open Sans" pitchFamily="34" charset="-122"/>
                <a:cs typeface="Times New Roman" panose="02020603050405020304" pitchFamily="18" charset="0"/>
              </a:rPr>
              <a:t> Reference: Internet Society — "Brief History of the Internet".(1)</a:t>
            </a:r>
            <a:br>
              <a:rPr lang="en-US" sz="2000" dirty="0">
                <a:solidFill>
                  <a:srgbClr val="333F70"/>
                </a:solidFill>
                <a:latin typeface="Times New Roman" panose="02020603050405020304" pitchFamily="18" charset="0"/>
                <a:ea typeface="Open Sans" pitchFamily="34" charset="-122"/>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
        <p:nvSpPr>
          <p:cNvPr id="13" name="Rectangle 12">
            <a:extLst>
              <a:ext uri="{FF2B5EF4-FFF2-40B4-BE49-F238E27FC236}">
                <a16:creationId xmlns:a16="http://schemas.microsoft.com/office/drawing/2014/main" id="{99E21812-B57C-42CA-9B2A-14EEFACDAAE0}"/>
              </a:ext>
            </a:extLst>
          </p:cNvPr>
          <p:cNvSpPr/>
          <p:nvPr/>
        </p:nvSpPr>
        <p:spPr>
          <a:xfrm>
            <a:off x="12466320" y="7711440"/>
            <a:ext cx="2133600" cy="45720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nvSpPr>
        <p:spPr>
          <a:xfrm>
            <a:off x="6419090" y="1047393"/>
            <a:ext cx="7556421" cy="992267"/>
          </a:xfrm>
          <a:prstGeom prst="rect">
            <a:avLst/>
          </a:prstGeom>
          <a:noFill/>
          <a:ln/>
        </p:spPr>
        <p:txBody>
          <a:bodyPr wrap="square" lIns="0" tIns="0" rIns="0" bIns="0" rtlCol="0" anchor="t"/>
          <a:lstStyle/>
          <a:p>
            <a:pPr marL="0" indent="0" algn="l">
              <a:lnSpc>
                <a:spcPts val="3900"/>
              </a:lnSpc>
              <a:buNone/>
            </a:pPr>
            <a:r>
              <a:rPr lang="en-US" sz="3100" b="1" dirty="0">
                <a:solidFill>
                  <a:srgbClr val="333F70"/>
                </a:solidFill>
                <a:latin typeface="Times New Roman" panose="02020603050405020304" pitchFamily="18" charset="0"/>
                <a:ea typeface="Verdana" panose="020B0604030504040204" pitchFamily="34" charset="0"/>
                <a:cs typeface="Times New Roman" panose="02020603050405020304" pitchFamily="18" charset="0"/>
              </a:rPr>
              <a:t>Building the Foundations: Key Technologies</a:t>
            </a:r>
            <a:endParaRPr lang="en-US" sz="3100" dirty="0">
              <a:latin typeface="Times New Roman" panose="02020603050405020304" pitchFamily="18" charset="0"/>
              <a:ea typeface="Verdana" panose="020B0604030504040204" pitchFamily="34" charset="0"/>
              <a:cs typeface="Times New Roman" panose="02020603050405020304" pitchFamily="18" charset="0"/>
            </a:endParaRPr>
          </a:p>
        </p:txBody>
      </p:sp>
      <p:pic>
        <p:nvPicPr>
          <p:cNvPr id="4"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19090" y="2104363"/>
            <a:ext cx="744140" cy="744140"/>
          </a:xfrm>
          <a:prstGeom prst="rect">
            <a:avLst/>
          </a:prstGeom>
        </p:spPr>
      </p:pic>
      <p:sp>
        <p:nvSpPr>
          <p:cNvPr id="5" name="Text 1"/>
          <p:cNvSpPr/>
          <p:nvPr/>
        </p:nvSpPr>
        <p:spPr>
          <a:xfrm>
            <a:off x="7278980" y="2314166"/>
            <a:ext cx="2958822" cy="310158"/>
          </a:xfrm>
          <a:prstGeom prst="rect">
            <a:avLst/>
          </a:prstGeom>
          <a:noFill/>
          <a:ln/>
        </p:spPr>
        <p:txBody>
          <a:bodyPr wrap="none" lIns="0" tIns="0" rIns="0" bIns="0" rtlCol="0" anchor="t"/>
          <a:lstStyle/>
          <a:p>
            <a:pPr marL="0" indent="0" algn="l">
              <a:lnSpc>
                <a:spcPts val="2400"/>
              </a:lnSpc>
              <a:buNone/>
            </a:pPr>
            <a:r>
              <a:rPr lang="en-US" sz="2400" b="1" dirty="0">
                <a:solidFill>
                  <a:srgbClr val="333F70"/>
                </a:solidFill>
                <a:latin typeface="Times New Roman" panose="02020603050405020304" pitchFamily="18" charset="0"/>
                <a:ea typeface="Unbounded Bold" pitchFamily="34" charset="-122"/>
                <a:cs typeface="Times New Roman" panose="02020603050405020304" pitchFamily="18" charset="0"/>
              </a:rPr>
              <a:t>Email Arrives (1971)</a:t>
            </a:r>
            <a:endParaRPr lang="en-US" sz="2400" dirty="0">
              <a:latin typeface="Times New Roman" panose="02020603050405020304" pitchFamily="18" charset="0"/>
              <a:cs typeface="Times New Roman" panose="02020603050405020304" pitchFamily="18" charset="0"/>
            </a:endParaRPr>
          </a:p>
        </p:txBody>
      </p:sp>
      <p:sp>
        <p:nvSpPr>
          <p:cNvPr id="6" name="Text 2"/>
          <p:cNvSpPr/>
          <p:nvPr/>
        </p:nvSpPr>
        <p:spPr>
          <a:xfrm>
            <a:off x="7278980" y="2766536"/>
            <a:ext cx="6812280" cy="635079"/>
          </a:xfrm>
          <a:prstGeom prst="rect">
            <a:avLst/>
          </a:prstGeom>
          <a:noFill/>
          <a:ln/>
        </p:spPr>
        <p:txBody>
          <a:bodyPr wrap="square" lIns="0" tIns="0" rIns="0" bIns="0" rtlCol="0" anchor="t"/>
          <a:lstStyle/>
          <a:p>
            <a:pPr marL="0" indent="0" algn="l">
              <a:lnSpc>
                <a:spcPts val="2500"/>
              </a:lnSpc>
              <a:buNone/>
            </a:pPr>
            <a:r>
              <a:rPr lang="en-US" sz="2000" dirty="0">
                <a:solidFill>
                  <a:srgbClr val="333F70"/>
                </a:solidFill>
                <a:latin typeface="Times New Roman" panose="02020603050405020304" pitchFamily="18" charset="0"/>
                <a:ea typeface="Open Sans" pitchFamily="34" charset="-122"/>
                <a:cs typeface="Times New Roman" panose="02020603050405020304" pitchFamily="18" charset="0"/>
              </a:rPr>
              <a:t>Ray Tomlinson sent the first network email and introduced the user@host addressing format that still exists today.</a:t>
            </a:r>
            <a:endParaRPr lang="en-US" sz="2000" dirty="0">
              <a:latin typeface="Times New Roman" panose="02020603050405020304" pitchFamily="18" charset="0"/>
              <a:cs typeface="Times New Roman" panose="02020603050405020304" pitchFamily="18" charset="0"/>
            </a:endParaRPr>
          </a:p>
        </p:txBody>
      </p:sp>
      <p:pic>
        <p:nvPicPr>
          <p:cNvPr id="7" name="Image 2" descr="preencoded.png"/>
          <p:cNvPicPr>
            <a:picLocks noChangeAspect="1"/>
          </p:cNvPicPr>
          <p:nvPr/>
        </p:nvPicPr>
        <p:blipFill>
          <a:blip r:embed="rId3">
            <a:extLst>
              <a:ext uri="{96DAC541-7B7A-43D3-8B79-37D633B846F1}">
                <asvg:svgBlip xmlns:asvg="http://schemas.microsoft.com/office/drawing/2016/SVG/main" r:embed="rId5"/>
              </a:ext>
            </a:extLst>
          </a:blip>
          <a:stretch>
            <a:fillRect/>
          </a:stretch>
        </p:blipFill>
        <p:spPr>
          <a:xfrm>
            <a:off x="6419091" y="3550444"/>
            <a:ext cx="744140" cy="744140"/>
          </a:xfrm>
          <a:prstGeom prst="rect">
            <a:avLst/>
          </a:prstGeom>
        </p:spPr>
      </p:pic>
      <p:sp>
        <p:nvSpPr>
          <p:cNvPr id="8" name="Text 3"/>
          <p:cNvSpPr/>
          <p:nvPr/>
        </p:nvSpPr>
        <p:spPr>
          <a:xfrm>
            <a:off x="7232680" y="3798451"/>
            <a:ext cx="6176367" cy="310158"/>
          </a:xfrm>
          <a:prstGeom prst="rect">
            <a:avLst/>
          </a:prstGeom>
          <a:noFill/>
          <a:ln/>
        </p:spPr>
        <p:txBody>
          <a:bodyPr wrap="none" lIns="0" tIns="0" rIns="0" bIns="0" rtlCol="0" anchor="t"/>
          <a:lstStyle/>
          <a:p>
            <a:pPr marL="0" indent="0" algn="l">
              <a:lnSpc>
                <a:spcPts val="2400"/>
              </a:lnSpc>
              <a:buNone/>
            </a:pPr>
            <a:r>
              <a:rPr lang="en-US" sz="2400" b="1" dirty="0">
                <a:solidFill>
                  <a:srgbClr val="333F70"/>
                </a:solidFill>
                <a:latin typeface="Times New Roman" panose="02020603050405020304" pitchFamily="18" charset="0"/>
                <a:ea typeface="Unbounded Bold" pitchFamily="34" charset="-122"/>
                <a:cs typeface="Times New Roman" panose="02020603050405020304" pitchFamily="18" charset="0"/>
              </a:rPr>
              <a:t>TCP/IP — The Internet's Language (1974)</a:t>
            </a:r>
            <a:endParaRPr lang="en-US" sz="2400" dirty="0">
              <a:latin typeface="Times New Roman" panose="02020603050405020304" pitchFamily="18" charset="0"/>
              <a:cs typeface="Times New Roman" panose="02020603050405020304" pitchFamily="18" charset="0"/>
            </a:endParaRPr>
          </a:p>
        </p:txBody>
      </p:sp>
      <p:sp>
        <p:nvSpPr>
          <p:cNvPr id="9" name="Text 4"/>
          <p:cNvSpPr/>
          <p:nvPr/>
        </p:nvSpPr>
        <p:spPr>
          <a:xfrm>
            <a:off x="7278980" y="4227671"/>
            <a:ext cx="6812280" cy="635079"/>
          </a:xfrm>
          <a:prstGeom prst="rect">
            <a:avLst/>
          </a:prstGeom>
          <a:noFill/>
          <a:ln/>
        </p:spPr>
        <p:txBody>
          <a:bodyPr wrap="square" lIns="0" tIns="0" rIns="0" bIns="0" rtlCol="0" anchor="t"/>
          <a:lstStyle/>
          <a:p>
            <a:pPr marL="0" indent="0" algn="l">
              <a:lnSpc>
                <a:spcPts val="2500"/>
              </a:lnSpc>
              <a:buNone/>
            </a:pPr>
            <a:r>
              <a:rPr lang="en-US" sz="2000" dirty="0">
                <a:solidFill>
                  <a:srgbClr val="333F70"/>
                </a:solidFill>
                <a:latin typeface="Times New Roman" panose="02020603050405020304" pitchFamily="18" charset="0"/>
                <a:ea typeface="Open Sans" pitchFamily="34" charset="-122"/>
                <a:cs typeface="Times New Roman" panose="02020603050405020304" pitchFamily="18" charset="0"/>
              </a:rPr>
              <a:t>Bob Kahn and Vint Cerf designed TCP/IP to let different networks communicate, forming the technical backbone of the internet.</a:t>
            </a:r>
            <a:endParaRPr lang="en-US" sz="2000" dirty="0">
              <a:latin typeface="Times New Roman" panose="02020603050405020304" pitchFamily="18" charset="0"/>
              <a:cs typeface="Times New Roman" panose="02020603050405020304" pitchFamily="18" charset="0"/>
            </a:endParaRPr>
          </a:p>
        </p:txBody>
      </p:sp>
      <p:pic>
        <p:nvPicPr>
          <p:cNvPr id="10" name="Image 3" descr="preencoded.png"/>
          <p:cNvPicPr>
            <a:picLocks noChangeAspect="1"/>
          </p:cNvPicPr>
          <p:nvPr/>
        </p:nvPicPr>
        <p:blipFill>
          <a:blip r:embed="rId3">
            <a:extLst>
              <a:ext uri="{96DAC541-7B7A-43D3-8B79-37D633B846F1}">
                <asvg:svgBlip xmlns:asvg="http://schemas.microsoft.com/office/drawing/2016/SVG/main" r:embed="rId6"/>
              </a:ext>
            </a:extLst>
          </a:blip>
          <a:stretch>
            <a:fillRect/>
          </a:stretch>
        </p:blipFill>
        <p:spPr>
          <a:xfrm>
            <a:off x="6419090" y="5011578"/>
            <a:ext cx="744141" cy="744141"/>
          </a:xfrm>
          <a:prstGeom prst="rect">
            <a:avLst/>
          </a:prstGeom>
        </p:spPr>
      </p:pic>
      <p:sp>
        <p:nvSpPr>
          <p:cNvPr id="11" name="Text 5"/>
          <p:cNvSpPr/>
          <p:nvPr/>
        </p:nvSpPr>
        <p:spPr>
          <a:xfrm>
            <a:off x="7242800" y="5243716"/>
            <a:ext cx="3396020" cy="310158"/>
          </a:xfrm>
          <a:prstGeom prst="rect">
            <a:avLst/>
          </a:prstGeom>
          <a:noFill/>
          <a:ln/>
        </p:spPr>
        <p:txBody>
          <a:bodyPr wrap="none" lIns="0" tIns="0" rIns="0" bIns="0" rtlCol="0" anchor="t"/>
          <a:lstStyle/>
          <a:p>
            <a:pPr marL="0" indent="0" algn="l">
              <a:lnSpc>
                <a:spcPts val="2400"/>
              </a:lnSpc>
              <a:buNone/>
            </a:pPr>
            <a:r>
              <a:rPr lang="en-US" sz="2400" b="1" dirty="0">
                <a:solidFill>
                  <a:srgbClr val="333F70"/>
                </a:solidFill>
                <a:latin typeface="Times New Roman" panose="02020603050405020304" pitchFamily="18" charset="0"/>
                <a:ea typeface="Unbounded Bold" pitchFamily="34" charset="-122"/>
                <a:cs typeface="Times New Roman" panose="02020603050405020304" pitchFamily="18" charset="0"/>
              </a:rPr>
              <a:t>Domain Names (1983)</a:t>
            </a:r>
            <a:endParaRPr lang="en-US" sz="2400" dirty="0">
              <a:latin typeface="Times New Roman" panose="02020603050405020304" pitchFamily="18" charset="0"/>
              <a:cs typeface="Times New Roman" panose="02020603050405020304" pitchFamily="18" charset="0"/>
            </a:endParaRPr>
          </a:p>
        </p:txBody>
      </p:sp>
      <p:sp>
        <p:nvSpPr>
          <p:cNvPr id="12" name="Text 6"/>
          <p:cNvSpPr/>
          <p:nvPr/>
        </p:nvSpPr>
        <p:spPr>
          <a:xfrm>
            <a:off x="7232680" y="5688806"/>
            <a:ext cx="6812280" cy="635079"/>
          </a:xfrm>
          <a:prstGeom prst="rect">
            <a:avLst/>
          </a:prstGeom>
          <a:noFill/>
          <a:ln/>
        </p:spPr>
        <p:txBody>
          <a:bodyPr wrap="square" lIns="0" tIns="0" rIns="0" bIns="0" rtlCol="0" anchor="t"/>
          <a:lstStyle/>
          <a:p>
            <a:pPr marL="0" indent="0" algn="l">
              <a:lnSpc>
                <a:spcPts val="2500"/>
              </a:lnSpc>
              <a:buNone/>
            </a:pPr>
            <a:r>
              <a:rPr lang="en-US" sz="2000" dirty="0">
                <a:solidFill>
                  <a:srgbClr val="333F70"/>
                </a:solidFill>
                <a:latin typeface="Times New Roman" panose="02020603050405020304" pitchFamily="18" charset="0"/>
                <a:ea typeface="Open Sans" pitchFamily="34" charset="-122"/>
                <a:cs typeface="Times New Roman" panose="02020603050405020304" pitchFamily="18" charset="0"/>
              </a:rPr>
              <a:t>DNS introduced readable addresses like ".com" and ".org", making the network far easier to navigate for people.</a:t>
            </a:r>
            <a:endParaRPr lang="en-US" sz="2000" dirty="0">
              <a:latin typeface="Times New Roman" panose="02020603050405020304" pitchFamily="18" charset="0"/>
              <a:cs typeface="Times New Roman" panose="02020603050405020304" pitchFamily="18" charset="0"/>
            </a:endParaRPr>
          </a:p>
        </p:txBody>
      </p:sp>
      <p:sp>
        <p:nvSpPr>
          <p:cNvPr id="13" name="Text 7"/>
          <p:cNvSpPr/>
          <p:nvPr/>
        </p:nvSpPr>
        <p:spPr>
          <a:xfrm>
            <a:off x="7043499" y="7283715"/>
            <a:ext cx="7556421" cy="635079"/>
          </a:xfrm>
          <a:prstGeom prst="rect">
            <a:avLst/>
          </a:prstGeom>
          <a:noFill/>
          <a:ln/>
        </p:spPr>
        <p:txBody>
          <a:bodyPr wrap="square" lIns="0" tIns="0" rIns="0" bIns="0" rtlCol="0" anchor="t"/>
          <a:lstStyle/>
          <a:p>
            <a:pPr marL="0" indent="0" algn="l">
              <a:lnSpc>
                <a:spcPts val="2500"/>
              </a:lnSpc>
              <a:buNone/>
            </a:pPr>
            <a:r>
              <a:rPr lang="en-US" sz="1550" dirty="0">
                <a:solidFill>
                  <a:srgbClr val="333F70"/>
                </a:solidFill>
                <a:latin typeface="Times New Roman" panose="02020603050405020304" pitchFamily="18" charset="0"/>
                <a:ea typeface="Open Sans" pitchFamily="34" charset="-122"/>
                <a:cs typeface="Times New Roman" panose="02020603050405020304" pitchFamily="18" charset="0"/>
              </a:rPr>
              <a:t> Reference: UC Berkeley School of Information — HOFI presentation (HOFIInternetI4-23).(2)</a:t>
            </a:r>
            <a:endParaRPr lang="en-US" sz="1550" dirty="0">
              <a:latin typeface="Times New Roman" panose="02020603050405020304" pitchFamily="18" charset="0"/>
              <a:cs typeface="Times New Roman" panose="02020603050405020304" pitchFamily="18" charset="0"/>
            </a:endParaRPr>
          </a:p>
        </p:txBody>
      </p:sp>
      <p:pic>
        <p:nvPicPr>
          <p:cNvPr id="3074" name="Picture 2" descr="Future Technology Needs a Solid Foundation">
            <a:extLst>
              <a:ext uri="{FF2B5EF4-FFF2-40B4-BE49-F238E27FC236}">
                <a16:creationId xmlns:a16="http://schemas.microsoft.com/office/drawing/2014/main" id="{919CBF87-A1FF-49E3-AD27-B05D7864B0A0}"/>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8093"/>
          <a:stretch/>
        </p:blipFill>
        <p:spPr bwMode="auto">
          <a:xfrm>
            <a:off x="0" y="2078295"/>
            <a:ext cx="6002402" cy="357187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a:extLst>
              <a:ext uri="{FF2B5EF4-FFF2-40B4-BE49-F238E27FC236}">
                <a16:creationId xmlns:a16="http://schemas.microsoft.com/office/drawing/2014/main" id="{0AF51809-A7C4-4B3A-BC67-6FA52A5D2C5F}"/>
              </a:ext>
            </a:extLst>
          </p:cNvPr>
          <p:cNvSpPr/>
          <p:nvPr/>
        </p:nvSpPr>
        <p:spPr>
          <a:xfrm>
            <a:off x="12466320" y="7711440"/>
            <a:ext cx="2133600" cy="45720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10" name="Shape 1">
            <a:extLst>
              <a:ext uri="{FF2B5EF4-FFF2-40B4-BE49-F238E27FC236}">
                <a16:creationId xmlns:a16="http://schemas.microsoft.com/office/drawing/2014/main" id="{61C5BC4D-CB49-437A-8A87-2E1E582C7E7B}"/>
              </a:ext>
            </a:extLst>
          </p:cNvPr>
          <p:cNvSpPr/>
          <p:nvPr/>
        </p:nvSpPr>
        <p:spPr>
          <a:xfrm>
            <a:off x="4480441" y="2778271"/>
            <a:ext cx="3821906" cy="2783324"/>
          </a:xfrm>
          <a:prstGeom prst="roundRect">
            <a:avLst>
              <a:gd name="adj" fmla="val 5134"/>
            </a:avLst>
          </a:prstGeom>
          <a:solidFill>
            <a:srgbClr val="DDF8F2"/>
          </a:solidFill>
          <a:ln/>
        </p:spPr>
      </p:sp>
      <p:sp>
        <p:nvSpPr>
          <p:cNvPr id="3" name="Text 0"/>
          <p:cNvSpPr/>
          <p:nvPr/>
        </p:nvSpPr>
        <p:spPr>
          <a:xfrm>
            <a:off x="496252" y="888087"/>
            <a:ext cx="7556421" cy="992267"/>
          </a:xfrm>
          <a:prstGeom prst="rect">
            <a:avLst/>
          </a:prstGeom>
          <a:noFill/>
          <a:ln/>
        </p:spPr>
        <p:txBody>
          <a:bodyPr wrap="square" lIns="0" tIns="0" rIns="0" bIns="0" rtlCol="0" anchor="t"/>
          <a:lstStyle/>
          <a:p>
            <a:pPr marL="0" indent="0" algn="l">
              <a:buNone/>
            </a:pPr>
            <a:r>
              <a:rPr lang="en-US" sz="4800" b="1" dirty="0">
                <a:solidFill>
                  <a:srgbClr val="333F70"/>
                </a:solidFill>
                <a:latin typeface="Times New Roman" panose="02020603050405020304" pitchFamily="18" charset="0"/>
                <a:ea typeface="Unbounded Bold" pitchFamily="34" charset="-122"/>
                <a:cs typeface="Times New Roman" panose="02020603050405020304" pitchFamily="18" charset="0"/>
              </a:rPr>
              <a:t>The World Wide Web: Making it User-Friendly</a:t>
            </a:r>
            <a:endParaRPr lang="en-US" sz="4800" dirty="0">
              <a:latin typeface="Times New Roman" panose="02020603050405020304" pitchFamily="18" charset="0"/>
              <a:cs typeface="Times New Roman" panose="02020603050405020304" pitchFamily="18" charset="0"/>
            </a:endParaRPr>
          </a:p>
        </p:txBody>
      </p:sp>
      <p:sp>
        <p:nvSpPr>
          <p:cNvPr id="4" name="Shape 1"/>
          <p:cNvSpPr/>
          <p:nvPr/>
        </p:nvSpPr>
        <p:spPr>
          <a:xfrm>
            <a:off x="452557" y="2780109"/>
            <a:ext cx="3821906" cy="2783324"/>
          </a:xfrm>
          <a:prstGeom prst="roundRect">
            <a:avLst>
              <a:gd name="adj" fmla="val 5134"/>
            </a:avLst>
          </a:prstGeom>
          <a:solidFill>
            <a:srgbClr val="DDF8F2"/>
          </a:solidFill>
          <a:ln/>
        </p:spPr>
      </p:sp>
      <p:sp>
        <p:nvSpPr>
          <p:cNvPr id="5" name="Text 2"/>
          <p:cNvSpPr/>
          <p:nvPr/>
        </p:nvSpPr>
        <p:spPr>
          <a:xfrm>
            <a:off x="650915" y="2978468"/>
            <a:ext cx="3425190" cy="620316"/>
          </a:xfrm>
          <a:prstGeom prst="rect">
            <a:avLst/>
          </a:prstGeom>
          <a:noFill/>
          <a:ln/>
        </p:spPr>
        <p:txBody>
          <a:bodyPr wrap="square" lIns="0" tIns="0" rIns="0" bIns="0" rtlCol="0" anchor="t"/>
          <a:lstStyle/>
          <a:p>
            <a:pPr marL="0" indent="0" algn="l">
              <a:lnSpc>
                <a:spcPts val="2400"/>
              </a:lnSpc>
              <a:buNone/>
            </a:pPr>
            <a:r>
              <a:rPr lang="en-US" sz="2400" b="1" dirty="0">
                <a:solidFill>
                  <a:srgbClr val="333F70"/>
                </a:solidFill>
                <a:latin typeface="Times New Roman" panose="02020603050405020304" pitchFamily="18" charset="0"/>
                <a:ea typeface="Unbounded Bold" pitchFamily="34" charset="-122"/>
                <a:cs typeface="Times New Roman" panose="02020603050405020304" pitchFamily="18" charset="0"/>
              </a:rPr>
              <a:t>Web Technologies (1990)</a:t>
            </a:r>
            <a:endParaRPr lang="en-US" sz="2400" dirty="0">
              <a:latin typeface="Times New Roman" panose="02020603050405020304" pitchFamily="18" charset="0"/>
              <a:cs typeface="Times New Roman" panose="02020603050405020304" pitchFamily="18" charset="0"/>
            </a:endParaRPr>
          </a:p>
        </p:txBody>
      </p:sp>
      <p:sp>
        <p:nvSpPr>
          <p:cNvPr id="6" name="Text 3"/>
          <p:cNvSpPr/>
          <p:nvPr/>
        </p:nvSpPr>
        <p:spPr>
          <a:xfrm>
            <a:off x="650915" y="3797141"/>
            <a:ext cx="3425190" cy="1270159"/>
          </a:xfrm>
          <a:prstGeom prst="rect">
            <a:avLst/>
          </a:prstGeom>
          <a:noFill/>
          <a:ln/>
        </p:spPr>
        <p:txBody>
          <a:bodyPr wrap="square" lIns="0" tIns="0" rIns="0" bIns="0" rtlCol="0" anchor="t"/>
          <a:lstStyle/>
          <a:p>
            <a:pPr marL="0" indent="0" algn="l">
              <a:lnSpc>
                <a:spcPts val="2500"/>
              </a:lnSpc>
              <a:buNone/>
            </a:pPr>
            <a:r>
              <a:rPr lang="en-US" sz="2000" dirty="0">
                <a:solidFill>
                  <a:srgbClr val="333F70"/>
                </a:solidFill>
                <a:latin typeface="Times New Roman" panose="02020603050405020304" pitchFamily="18" charset="0"/>
                <a:ea typeface="Open Sans" pitchFamily="34" charset="-122"/>
                <a:cs typeface="Times New Roman" panose="02020603050405020304" pitchFamily="18" charset="0"/>
              </a:rPr>
              <a:t>Tim Berners-Lee created HTML, HTTP and the first web browser — tools that let people create and view web pages easily.</a:t>
            </a:r>
            <a:endParaRPr lang="en-US" sz="2000" dirty="0">
              <a:latin typeface="Times New Roman" panose="02020603050405020304" pitchFamily="18" charset="0"/>
              <a:cs typeface="Times New Roman" panose="02020603050405020304" pitchFamily="18" charset="0"/>
            </a:endParaRPr>
          </a:p>
        </p:txBody>
      </p:sp>
      <p:sp>
        <p:nvSpPr>
          <p:cNvPr id="7" name="Text 4"/>
          <p:cNvSpPr/>
          <p:nvPr/>
        </p:nvSpPr>
        <p:spPr>
          <a:xfrm>
            <a:off x="4623316" y="2978468"/>
            <a:ext cx="3536156" cy="620316"/>
          </a:xfrm>
          <a:prstGeom prst="rect">
            <a:avLst/>
          </a:prstGeom>
          <a:noFill/>
          <a:ln/>
        </p:spPr>
        <p:txBody>
          <a:bodyPr wrap="square" lIns="0" tIns="0" rIns="0" bIns="0" rtlCol="0" anchor="t"/>
          <a:lstStyle/>
          <a:p>
            <a:pPr marL="0" indent="0" algn="l">
              <a:lnSpc>
                <a:spcPts val="2400"/>
              </a:lnSpc>
              <a:buNone/>
            </a:pPr>
            <a:r>
              <a:rPr lang="en-US" sz="2400" b="1" dirty="0">
                <a:solidFill>
                  <a:srgbClr val="333F70"/>
                </a:solidFill>
                <a:latin typeface="Times New Roman" panose="02020603050405020304" pitchFamily="18" charset="0"/>
                <a:ea typeface="Unbounded Bold" pitchFamily="34" charset="-122"/>
                <a:cs typeface="Times New Roman" panose="02020603050405020304" pitchFamily="18" charset="0"/>
              </a:rPr>
              <a:t>Mosaic Browser (1993)</a:t>
            </a:r>
            <a:endParaRPr lang="en-US" sz="2400" dirty="0">
              <a:latin typeface="Times New Roman" panose="02020603050405020304" pitchFamily="18" charset="0"/>
              <a:cs typeface="Times New Roman" panose="02020603050405020304" pitchFamily="18" charset="0"/>
            </a:endParaRPr>
          </a:p>
        </p:txBody>
      </p:sp>
      <p:sp>
        <p:nvSpPr>
          <p:cNvPr id="8" name="Text 5"/>
          <p:cNvSpPr/>
          <p:nvPr/>
        </p:nvSpPr>
        <p:spPr>
          <a:xfrm>
            <a:off x="4623316" y="3797141"/>
            <a:ext cx="3536156" cy="1587698"/>
          </a:xfrm>
          <a:prstGeom prst="rect">
            <a:avLst/>
          </a:prstGeom>
          <a:noFill/>
          <a:ln/>
        </p:spPr>
        <p:txBody>
          <a:bodyPr wrap="square" lIns="0" tIns="0" rIns="0" bIns="0" rtlCol="0" anchor="t"/>
          <a:lstStyle/>
          <a:p>
            <a:pPr marL="0" indent="0" algn="l">
              <a:lnSpc>
                <a:spcPts val="2500"/>
              </a:lnSpc>
              <a:buNone/>
            </a:pPr>
            <a:r>
              <a:rPr lang="en-US" sz="2000" dirty="0">
                <a:solidFill>
                  <a:srgbClr val="333F70"/>
                </a:solidFill>
                <a:latin typeface="Times New Roman" panose="02020603050405020304" pitchFamily="18" charset="0"/>
                <a:ea typeface="Open Sans" pitchFamily="34" charset="-122"/>
                <a:cs typeface="Times New Roman" panose="02020603050405020304" pitchFamily="18" charset="0"/>
              </a:rPr>
              <a:t>Mosaic brought images and text together in a single view and was available across platforms, which helped the web reach a broader audience.</a:t>
            </a:r>
            <a:endParaRPr lang="en-US" sz="2000" dirty="0">
              <a:latin typeface="Times New Roman" panose="02020603050405020304" pitchFamily="18" charset="0"/>
              <a:cs typeface="Times New Roman" panose="02020603050405020304" pitchFamily="18" charset="0"/>
            </a:endParaRPr>
          </a:p>
        </p:txBody>
      </p:sp>
      <p:sp>
        <p:nvSpPr>
          <p:cNvPr id="9" name="Text 6"/>
          <p:cNvSpPr/>
          <p:nvPr/>
        </p:nvSpPr>
        <p:spPr>
          <a:xfrm>
            <a:off x="452557" y="6955645"/>
            <a:ext cx="7556421" cy="952619"/>
          </a:xfrm>
          <a:prstGeom prst="rect">
            <a:avLst/>
          </a:prstGeom>
          <a:noFill/>
          <a:ln/>
        </p:spPr>
        <p:txBody>
          <a:bodyPr wrap="square" lIns="0" tIns="0" rIns="0" bIns="0" rtlCol="0" anchor="t"/>
          <a:lstStyle/>
          <a:p>
            <a:pPr marL="0" indent="0" algn="l">
              <a:lnSpc>
                <a:spcPts val="2500"/>
              </a:lnSpc>
              <a:buNone/>
            </a:pPr>
            <a:r>
              <a:rPr lang="en-US" sz="1550" dirty="0">
                <a:solidFill>
                  <a:srgbClr val="333F70"/>
                </a:solidFill>
                <a:latin typeface="Times New Roman" panose="02020603050405020304" pitchFamily="18" charset="0"/>
                <a:ea typeface="Open Sans" pitchFamily="34" charset="-122"/>
                <a:cs typeface="Times New Roman" panose="02020603050405020304" pitchFamily="18" charset="0"/>
              </a:rPr>
              <a:t>Commercial access expanded in the early 1990s as restrictions were relaxed and companies built browsers and services that reached the public. Reference: Frank McCown — "A Short History of the Internet and the Web".(3)</a:t>
            </a:r>
            <a:endParaRPr lang="en-US" sz="1550" dirty="0">
              <a:latin typeface="Times New Roman" panose="02020603050405020304" pitchFamily="18" charset="0"/>
              <a:cs typeface="Times New Roman" panose="02020603050405020304" pitchFamily="18" charset="0"/>
            </a:endParaRPr>
          </a:p>
        </p:txBody>
      </p:sp>
      <p:pic>
        <p:nvPicPr>
          <p:cNvPr id="11" name="Picture 2" descr="Remembering the Day the World Wide Web Was Born | Scientific American">
            <a:extLst>
              <a:ext uri="{FF2B5EF4-FFF2-40B4-BE49-F238E27FC236}">
                <a16:creationId xmlns:a16="http://schemas.microsoft.com/office/drawing/2014/main" id="{FC806CAA-473F-4CC9-8C0F-3FDA7A1F1A9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596"/>
          <a:stretch/>
        </p:blipFill>
        <p:spPr bwMode="auto">
          <a:xfrm>
            <a:off x="8534638" y="1882735"/>
            <a:ext cx="6095762" cy="4220874"/>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5FAE511F-6927-4BB8-ACD7-2631DF6B517A}"/>
              </a:ext>
            </a:extLst>
          </p:cNvPr>
          <p:cNvSpPr/>
          <p:nvPr/>
        </p:nvSpPr>
        <p:spPr>
          <a:xfrm>
            <a:off x="12267962" y="7528560"/>
            <a:ext cx="2362438" cy="64008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432137"/>
            <a:ext cx="7556421" cy="992267"/>
          </a:xfrm>
          <a:prstGeom prst="rect">
            <a:avLst/>
          </a:prstGeom>
          <a:noFill/>
          <a:ln/>
        </p:spPr>
        <p:txBody>
          <a:bodyPr wrap="square" lIns="0" tIns="0" rIns="0" bIns="0" rtlCol="0" anchor="t"/>
          <a:lstStyle/>
          <a:p>
            <a:pPr marL="0" indent="0" algn="l">
              <a:buNone/>
            </a:pPr>
            <a:r>
              <a:rPr lang="en-US" sz="4800" b="1" dirty="0">
                <a:solidFill>
                  <a:srgbClr val="333F70"/>
                </a:solidFill>
                <a:latin typeface="Times New Roman" panose="02020603050405020304" pitchFamily="18" charset="0"/>
                <a:ea typeface="Unbounded Bold" pitchFamily="34" charset="-122"/>
                <a:cs typeface="Times New Roman" panose="02020603050405020304" pitchFamily="18" charset="0"/>
              </a:rPr>
              <a:t>The Internet Grows Up: From Research to Everyone</a:t>
            </a:r>
            <a:endParaRPr lang="en-US" sz="4800" dirty="0">
              <a:latin typeface="Times New Roman" panose="02020603050405020304" pitchFamily="18" charset="0"/>
              <a:cs typeface="Times New Roman" panose="02020603050405020304" pitchFamily="18" charset="0"/>
            </a:endParaRPr>
          </a:p>
        </p:txBody>
      </p:sp>
      <p:sp>
        <p:nvSpPr>
          <p:cNvPr id="4" name="Shape 1"/>
          <p:cNvSpPr/>
          <p:nvPr/>
        </p:nvSpPr>
        <p:spPr>
          <a:xfrm>
            <a:off x="6280190" y="2393752"/>
            <a:ext cx="446484" cy="446484"/>
          </a:xfrm>
          <a:prstGeom prst="roundRect">
            <a:avLst>
              <a:gd name="adj" fmla="val 18670"/>
            </a:avLst>
          </a:prstGeom>
          <a:solidFill>
            <a:srgbClr val="D6F5EE"/>
          </a:solidFill>
          <a:ln w="7620">
            <a:solidFill>
              <a:srgbClr val="BCDBD4"/>
            </a:solidFill>
            <a:prstDash val="solid"/>
          </a:ln>
        </p:spPr>
      </p:sp>
      <p:sp>
        <p:nvSpPr>
          <p:cNvPr id="5" name="Text 2"/>
          <p:cNvSpPr/>
          <p:nvPr/>
        </p:nvSpPr>
        <p:spPr>
          <a:xfrm>
            <a:off x="6925032" y="2461974"/>
            <a:ext cx="2903934" cy="310158"/>
          </a:xfrm>
          <a:prstGeom prst="rect">
            <a:avLst/>
          </a:prstGeom>
          <a:noFill/>
          <a:ln/>
        </p:spPr>
        <p:txBody>
          <a:bodyPr wrap="none" lIns="0" tIns="0" rIns="0" bIns="0" rtlCol="0" anchor="t"/>
          <a:lstStyle/>
          <a:p>
            <a:pPr marL="0" indent="0" algn="l">
              <a:lnSpc>
                <a:spcPts val="2400"/>
              </a:lnSpc>
              <a:buNone/>
            </a:pPr>
            <a:r>
              <a:rPr lang="en-US" sz="2400" b="1" dirty="0">
                <a:solidFill>
                  <a:srgbClr val="333F70"/>
                </a:solidFill>
                <a:latin typeface="Times New Roman" panose="02020603050405020304" pitchFamily="18" charset="0"/>
                <a:ea typeface="Unbounded Bold" pitchFamily="34" charset="-122"/>
                <a:cs typeface="Times New Roman" panose="02020603050405020304" pitchFamily="18" charset="0"/>
              </a:rPr>
              <a:t>NSFNET Backbone</a:t>
            </a:r>
            <a:endParaRPr lang="en-US" sz="2400" dirty="0">
              <a:latin typeface="Times New Roman" panose="02020603050405020304" pitchFamily="18" charset="0"/>
              <a:cs typeface="Times New Roman" panose="02020603050405020304" pitchFamily="18" charset="0"/>
            </a:endParaRPr>
          </a:p>
        </p:txBody>
      </p:sp>
      <p:sp>
        <p:nvSpPr>
          <p:cNvPr id="6" name="Text 3"/>
          <p:cNvSpPr/>
          <p:nvPr/>
        </p:nvSpPr>
        <p:spPr>
          <a:xfrm>
            <a:off x="6925032" y="2891195"/>
            <a:ext cx="6911578" cy="635079"/>
          </a:xfrm>
          <a:prstGeom prst="rect">
            <a:avLst/>
          </a:prstGeom>
          <a:noFill/>
          <a:ln/>
        </p:spPr>
        <p:txBody>
          <a:bodyPr wrap="square" lIns="0" tIns="0" rIns="0" bIns="0" rtlCol="0" anchor="t"/>
          <a:lstStyle/>
          <a:p>
            <a:pPr marL="0" indent="0" algn="l">
              <a:lnSpc>
                <a:spcPts val="2500"/>
              </a:lnSpc>
              <a:buNone/>
            </a:pPr>
            <a:r>
              <a:rPr lang="en-US" sz="2000" dirty="0">
                <a:solidFill>
                  <a:srgbClr val="333F70"/>
                </a:solidFill>
                <a:latin typeface="Times New Roman" panose="02020603050405020304" pitchFamily="18" charset="0"/>
                <a:ea typeface="Open Sans" pitchFamily="34" charset="-122"/>
                <a:cs typeface="Times New Roman" panose="02020603050405020304" pitchFamily="18" charset="0"/>
              </a:rPr>
              <a:t>NSFNET connected universities and research centres, providing a major backbone that supported growth through the 1980s and early 1990s.</a:t>
            </a:r>
            <a:endParaRPr lang="en-US" sz="2000" dirty="0">
              <a:latin typeface="Times New Roman" panose="02020603050405020304" pitchFamily="18" charset="0"/>
              <a:cs typeface="Times New Roman" panose="02020603050405020304" pitchFamily="18" charset="0"/>
            </a:endParaRPr>
          </a:p>
        </p:txBody>
      </p:sp>
      <p:sp>
        <p:nvSpPr>
          <p:cNvPr id="7" name="Shape 4"/>
          <p:cNvSpPr/>
          <p:nvPr/>
        </p:nvSpPr>
        <p:spPr>
          <a:xfrm>
            <a:off x="6280190" y="3923109"/>
            <a:ext cx="446484" cy="446484"/>
          </a:xfrm>
          <a:prstGeom prst="roundRect">
            <a:avLst>
              <a:gd name="adj" fmla="val 18670"/>
            </a:avLst>
          </a:prstGeom>
          <a:solidFill>
            <a:srgbClr val="D6F5EE"/>
          </a:solidFill>
          <a:ln w="7620">
            <a:solidFill>
              <a:srgbClr val="BCDBD4"/>
            </a:solidFill>
            <a:prstDash val="solid"/>
          </a:ln>
        </p:spPr>
      </p:sp>
      <p:sp>
        <p:nvSpPr>
          <p:cNvPr id="8" name="Text 5"/>
          <p:cNvSpPr/>
          <p:nvPr/>
        </p:nvSpPr>
        <p:spPr>
          <a:xfrm>
            <a:off x="6925032" y="3991332"/>
            <a:ext cx="4901684" cy="310158"/>
          </a:xfrm>
          <a:prstGeom prst="rect">
            <a:avLst/>
          </a:prstGeom>
          <a:noFill/>
          <a:ln/>
        </p:spPr>
        <p:txBody>
          <a:bodyPr wrap="none" lIns="0" tIns="0" rIns="0" bIns="0" rtlCol="0" anchor="t"/>
          <a:lstStyle/>
          <a:p>
            <a:pPr marL="0" indent="0" algn="l">
              <a:lnSpc>
                <a:spcPts val="2400"/>
              </a:lnSpc>
              <a:buNone/>
            </a:pPr>
            <a:r>
              <a:rPr lang="en-US" sz="2400" b="1" dirty="0">
                <a:solidFill>
                  <a:srgbClr val="333F70"/>
                </a:solidFill>
                <a:latin typeface="Times New Roman" panose="02020603050405020304" pitchFamily="18" charset="0"/>
                <a:ea typeface="Unbounded Bold" pitchFamily="34" charset="-122"/>
                <a:cs typeface="Times New Roman" panose="02020603050405020304" pitchFamily="18" charset="0"/>
              </a:rPr>
              <a:t>Commercial Networks and ISPs</a:t>
            </a:r>
            <a:endParaRPr lang="en-US" sz="2400" dirty="0">
              <a:latin typeface="Times New Roman" panose="02020603050405020304" pitchFamily="18" charset="0"/>
              <a:cs typeface="Times New Roman" panose="02020603050405020304" pitchFamily="18" charset="0"/>
            </a:endParaRPr>
          </a:p>
        </p:txBody>
      </p:sp>
      <p:sp>
        <p:nvSpPr>
          <p:cNvPr id="9" name="Text 6"/>
          <p:cNvSpPr/>
          <p:nvPr/>
        </p:nvSpPr>
        <p:spPr>
          <a:xfrm>
            <a:off x="6925032" y="4420553"/>
            <a:ext cx="6911578" cy="635079"/>
          </a:xfrm>
          <a:prstGeom prst="rect">
            <a:avLst/>
          </a:prstGeom>
          <a:noFill/>
          <a:ln/>
        </p:spPr>
        <p:txBody>
          <a:bodyPr wrap="square" lIns="0" tIns="0" rIns="0" bIns="0" rtlCol="0" anchor="t"/>
          <a:lstStyle/>
          <a:p>
            <a:pPr marL="0" indent="0" algn="l">
              <a:lnSpc>
                <a:spcPts val="2500"/>
              </a:lnSpc>
              <a:buNone/>
            </a:pPr>
            <a:r>
              <a:rPr lang="en-US" sz="2400" dirty="0">
                <a:solidFill>
                  <a:srgbClr val="333F70"/>
                </a:solidFill>
                <a:latin typeface="Times New Roman" panose="02020603050405020304" pitchFamily="18" charset="0"/>
                <a:ea typeface="Open Sans" pitchFamily="34" charset="-122"/>
                <a:cs typeface="Times New Roman" panose="02020603050405020304" pitchFamily="18" charset="0"/>
              </a:rPr>
              <a:t>Commercial providers began offering internet access to businesses and the public, turning a research tool into a public service.</a:t>
            </a:r>
            <a:endParaRPr lang="en-US" sz="2400" dirty="0">
              <a:latin typeface="Times New Roman" panose="02020603050405020304" pitchFamily="18" charset="0"/>
              <a:cs typeface="Times New Roman" panose="02020603050405020304" pitchFamily="18" charset="0"/>
            </a:endParaRPr>
          </a:p>
        </p:txBody>
      </p:sp>
      <p:sp>
        <p:nvSpPr>
          <p:cNvPr id="10" name="Shape 7"/>
          <p:cNvSpPr/>
          <p:nvPr/>
        </p:nvSpPr>
        <p:spPr>
          <a:xfrm>
            <a:off x="6280190" y="5452467"/>
            <a:ext cx="446484" cy="446484"/>
          </a:xfrm>
          <a:prstGeom prst="roundRect">
            <a:avLst>
              <a:gd name="adj" fmla="val 18670"/>
            </a:avLst>
          </a:prstGeom>
          <a:solidFill>
            <a:srgbClr val="D6F5EE"/>
          </a:solidFill>
          <a:ln w="7620">
            <a:solidFill>
              <a:srgbClr val="BCDBD4"/>
            </a:solidFill>
            <a:prstDash val="solid"/>
          </a:ln>
        </p:spPr>
      </p:sp>
      <p:sp>
        <p:nvSpPr>
          <p:cNvPr id="11" name="Text 8"/>
          <p:cNvSpPr/>
          <p:nvPr/>
        </p:nvSpPr>
        <p:spPr>
          <a:xfrm>
            <a:off x="6925032" y="5520690"/>
            <a:ext cx="3525679" cy="310158"/>
          </a:xfrm>
          <a:prstGeom prst="rect">
            <a:avLst/>
          </a:prstGeom>
          <a:noFill/>
          <a:ln/>
        </p:spPr>
        <p:txBody>
          <a:bodyPr wrap="none" lIns="0" tIns="0" rIns="0" bIns="0" rtlCol="0" anchor="t"/>
          <a:lstStyle/>
          <a:p>
            <a:pPr marL="0" indent="0" algn="l">
              <a:lnSpc>
                <a:spcPts val="2400"/>
              </a:lnSpc>
              <a:buNone/>
            </a:pPr>
            <a:r>
              <a:rPr lang="en-US" sz="2400" b="1" dirty="0">
                <a:solidFill>
                  <a:srgbClr val="333F70"/>
                </a:solidFill>
                <a:latin typeface="Times New Roman" panose="02020603050405020304" pitchFamily="18" charset="0"/>
                <a:ea typeface="Unbounded Bold" pitchFamily="34" charset="-122"/>
                <a:cs typeface="Times New Roman" panose="02020603050405020304" pitchFamily="18" charset="0"/>
              </a:rPr>
              <a:t>Internet Society (1992)</a:t>
            </a:r>
            <a:endParaRPr lang="en-US" sz="2400" dirty="0">
              <a:latin typeface="Times New Roman" panose="02020603050405020304" pitchFamily="18" charset="0"/>
              <a:cs typeface="Times New Roman" panose="02020603050405020304" pitchFamily="18" charset="0"/>
            </a:endParaRPr>
          </a:p>
        </p:txBody>
      </p:sp>
      <p:sp>
        <p:nvSpPr>
          <p:cNvPr id="12" name="Text 9"/>
          <p:cNvSpPr/>
          <p:nvPr/>
        </p:nvSpPr>
        <p:spPr>
          <a:xfrm>
            <a:off x="6925032" y="5949910"/>
            <a:ext cx="6911578" cy="635079"/>
          </a:xfrm>
          <a:prstGeom prst="rect">
            <a:avLst/>
          </a:prstGeom>
          <a:noFill/>
          <a:ln/>
        </p:spPr>
        <p:txBody>
          <a:bodyPr wrap="square" lIns="0" tIns="0" rIns="0" bIns="0" rtlCol="0" anchor="t"/>
          <a:lstStyle/>
          <a:p>
            <a:pPr marL="0" indent="0" algn="l">
              <a:lnSpc>
                <a:spcPts val="2500"/>
              </a:lnSpc>
              <a:buNone/>
            </a:pPr>
            <a:r>
              <a:rPr lang="en-US" sz="2000" dirty="0">
                <a:solidFill>
                  <a:srgbClr val="333F70"/>
                </a:solidFill>
                <a:latin typeface="Times New Roman" panose="02020603050405020304" pitchFamily="18" charset="0"/>
                <a:ea typeface="Open Sans" pitchFamily="34" charset="-122"/>
                <a:cs typeface="Times New Roman" panose="02020603050405020304" pitchFamily="18" charset="0"/>
              </a:rPr>
              <a:t>The Internet Society was formed to guide standards, policy and education as the network scaled worldwide.</a:t>
            </a:r>
            <a:endParaRPr lang="en-US" sz="2000" dirty="0">
              <a:latin typeface="Times New Roman" panose="02020603050405020304" pitchFamily="18" charset="0"/>
              <a:cs typeface="Times New Roman" panose="02020603050405020304" pitchFamily="18" charset="0"/>
            </a:endParaRPr>
          </a:p>
        </p:txBody>
      </p:sp>
      <p:sp>
        <p:nvSpPr>
          <p:cNvPr id="13" name="Text 10"/>
          <p:cNvSpPr/>
          <p:nvPr/>
        </p:nvSpPr>
        <p:spPr>
          <a:xfrm>
            <a:off x="6632914" y="7629842"/>
            <a:ext cx="7556421" cy="317540"/>
          </a:xfrm>
          <a:prstGeom prst="rect">
            <a:avLst/>
          </a:prstGeom>
          <a:noFill/>
          <a:ln/>
        </p:spPr>
        <p:txBody>
          <a:bodyPr wrap="none" lIns="0" tIns="0" rIns="0" bIns="0" rtlCol="0" anchor="t"/>
          <a:lstStyle/>
          <a:p>
            <a:pPr marL="0" indent="0" algn="l">
              <a:lnSpc>
                <a:spcPts val="2500"/>
              </a:lnSpc>
              <a:buNone/>
            </a:pPr>
            <a:r>
              <a:rPr lang="en-US" sz="1550" dirty="0">
                <a:solidFill>
                  <a:srgbClr val="333F70"/>
                </a:solidFill>
                <a:latin typeface="Times New Roman" panose="02020603050405020304" pitchFamily="18" charset="0"/>
                <a:ea typeface="Open Sans" pitchFamily="34" charset="-122"/>
                <a:cs typeface="Times New Roman" panose="02020603050405020304" pitchFamily="18" charset="0"/>
              </a:rPr>
              <a:t> Reference: Internet Society — "Brief History of the Internet".(4)</a:t>
            </a:r>
            <a:endParaRPr lang="en-US" sz="1550" dirty="0">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7026E570-24D3-4144-95BC-62E2D17173D7}"/>
              </a:ext>
            </a:extLst>
          </p:cNvPr>
          <p:cNvSpPr/>
          <p:nvPr/>
        </p:nvSpPr>
        <p:spPr>
          <a:xfrm>
            <a:off x="12466320" y="7711440"/>
            <a:ext cx="2133600" cy="45720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039828" y="138896"/>
            <a:ext cx="5486400" cy="795180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Text 0"/>
          <p:cNvSpPr/>
          <p:nvPr/>
        </p:nvSpPr>
        <p:spPr>
          <a:xfrm>
            <a:off x="793790" y="2087343"/>
            <a:ext cx="5418058" cy="496133"/>
          </a:xfrm>
          <a:prstGeom prst="rect">
            <a:avLst/>
          </a:prstGeom>
          <a:noFill/>
          <a:ln/>
        </p:spPr>
        <p:txBody>
          <a:bodyPr wrap="none" lIns="0" tIns="0" rIns="0" bIns="0" rtlCol="0" anchor="t"/>
          <a:lstStyle/>
          <a:p>
            <a:pPr marL="0" indent="0" algn="l">
              <a:lnSpc>
                <a:spcPts val="3900"/>
              </a:lnSpc>
              <a:buNone/>
            </a:pPr>
            <a:r>
              <a:rPr lang="en-US" sz="5400" b="1" dirty="0">
                <a:solidFill>
                  <a:srgbClr val="333F70"/>
                </a:solidFill>
                <a:latin typeface="Times New Roman" panose="02020603050405020304" pitchFamily="18" charset="0"/>
                <a:ea typeface="Unbounded Bold" pitchFamily="34" charset="-122"/>
                <a:cs typeface="Times New Roman" panose="02020603050405020304" pitchFamily="18" charset="0"/>
              </a:rPr>
              <a:t>Connecting the World</a:t>
            </a:r>
            <a:endParaRPr lang="en-US" sz="5400" dirty="0">
              <a:latin typeface="Times New Roman" panose="02020603050405020304" pitchFamily="18" charset="0"/>
              <a:cs typeface="Times New Roman" panose="02020603050405020304" pitchFamily="18" charset="0"/>
            </a:endParaRPr>
          </a:p>
        </p:txBody>
      </p:sp>
      <p:sp>
        <p:nvSpPr>
          <p:cNvPr id="4" name="Text 1"/>
          <p:cNvSpPr/>
          <p:nvPr/>
        </p:nvSpPr>
        <p:spPr>
          <a:xfrm>
            <a:off x="793790" y="3054754"/>
            <a:ext cx="7556421" cy="1270159"/>
          </a:xfrm>
          <a:prstGeom prst="rect">
            <a:avLst/>
          </a:prstGeom>
          <a:noFill/>
          <a:ln/>
        </p:spPr>
        <p:txBody>
          <a:bodyPr wrap="square" lIns="0" tIns="0" rIns="0" bIns="0" rtlCol="0" anchor="t"/>
          <a:lstStyle/>
          <a:p>
            <a:pPr marL="0" indent="0" algn="l">
              <a:buNone/>
            </a:pPr>
            <a:r>
              <a:rPr lang="en-US" sz="2800" dirty="0">
                <a:solidFill>
                  <a:srgbClr val="333F70"/>
                </a:solidFill>
                <a:latin typeface="Times New Roman" panose="02020603050405020304" pitchFamily="18" charset="0"/>
                <a:ea typeface="Open Sans" pitchFamily="34" charset="-122"/>
                <a:cs typeface="Times New Roman" panose="02020603050405020304" pitchFamily="18" charset="0"/>
              </a:rPr>
              <a:t>The network of networks grew into a global infrastructure. As links multiplied, remote communities, governments and businesses all became part of the same information space. Images like this show the idea: many independent nodes connecting to form one global web.</a:t>
            </a: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1088282" y="585803"/>
            <a:ext cx="10310574" cy="496133"/>
          </a:xfrm>
          <a:prstGeom prst="rect">
            <a:avLst/>
          </a:prstGeom>
          <a:noFill/>
          <a:ln/>
        </p:spPr>
        <p:txBody>
          <a:bodyPr wrap="none" lIns="0" tIns="0" rIns="0" bIns="0" rtlCol="0" anchor="t"/>
          <a:lstStyle/>
          <a:p>
            <a:pPr marL="0" indent="0" algn="l">
              <a:lnSpc>
                <a:spcPts val="3900"/>
              </a:lnSpc>
              <a:buNone/>
            </a:pPr>
            <a:r>
              <a:rPr lang="en-US" sz="5400" b="1" dirty="0">
                <a:solidFill>
                  <a:srgbClr val="333F70"/>
                </a:solidFill>
                <a:latin typeface="Times New Roman" panose="02020603050405020304" pitchFamily="18" charset="0"/>
                <a:ea typeface="Unbounded Bold" pitchFamily="34" charset="-122"/>
                <a:cs typeface="Times New Roman" panose="02020603050405020304" pitchFamily="18" charset="0"/>
              </a:rPr>
              <a:t>The Internet Today: A Global Phenomenon</a:t>
            </a:r>
            <a:endParaRPr lang="en-US" sz="5400" dirty="0">
              <a:latin typeface="Times New Roman" panose="02020603050405020304" pitchFamily="18" charset="0"/>
              <a:cs typeface="Times New Roman" panose="02020603050405020304" pitchFamily="18" charset="0"/>
            </a:endParaRPr>
          </a:p>
        </p:txBody>
      </p:sp>
      <p:pic>
        <p:nvPicPr>
          <p:cNvPr id="3" name="Image 0" descr="preencoded.png"/>
          <p:cNvPicPr>
            <a:picLocks noChangeAspect="1"/>
          </p:cNvPicPr>
          <p:nvPr/>
        </p:nvPicPr>
        <p:blipFill>
          <a:blip r:embed="rId3"/>
          <a:stretch>
            <a:fillRect/>
          </a:stretch>
        </p:blipFill>
        <p:spPr>
          <a:xfrm>
            <a:off x="1574280" y="1213673"/>
            <a:ext cx="2239804" cy="2335456"/>
          </a:xfrm>
          <a:prstGeom prst="rect">
            <a:avLst/>
          </a:prstGeom>
        </p:spPr>
      </p:pic>
      <p:sp>
        <p:nvSpPr>
          <p:cNvPr id="4" name="Text 1"/>
          <p:cNvSpPr/>
          <p:nvPr/>
        </p:nvSpPr>
        <p:spPr>
          <a:xfrm>
            <a:off x="1477328" y="3667804"/>
            <a:ext cx="2721412" cy="620316"/>
          </a:xfrm>
          <a:prstGeom prst="rect">
            <a:avLst/>
          </a:prstGeom>
          <a:noFill/>
          <a:ln/>
        </p:spPr>
        <p:txBody>
          <a:bodyPr wrap="square" lIns="0" tIns="0" rIns="0" bIns="0" rtlCol="0" anchor="t"/>
          <a:lstStyle/>
          <a:p>
            <a:pPr marL="0" indent="0" algn="ctr">
              <a:lnSpc>
                <a:spcPts val="2400"/>
              </a:lnSpc>
              <a:buNone/>
            </a:pPr>
            <a:r>
              <a:rPr lang="en-US" sz="2400" b="1" dirty="0">
                <a:solidFill>
                  <a:srgbClr val="333F70"/>
                </a:solidFill>
                <a:latin typeface="Times New Roman" panose="02020603050405020304" pitchFamily="18" charset="0"/>
                <a:ea typeface="Unbounded Bold" pitchFamily="34" charset="-122"/>
                <a:cs typeface="Times New Roman" panose="02020603050405020304" pitchFamily="18" charset="0"/>
              </a:rPr>
              <a:t>Information at Your Fingertips</a:t>
            </a:r>
            <a:endParaRPr lang="en-US" sz="2400" dirty="0">
              <a:latin typeface="Times New Roman" panose="02020603050405020304" pitchFamily="18" charset="0"/>
              <a:cs typeface="Times New Roman" panose="02020603050405020304" pitchFamily="18" charset="0"/>
            </a:endParaRPr>
          </a:p>
        </p:txBody>
      </p:sp>
      <p:sp>
        <p:nvSpPr>
          <p:cNvPr id="5" name="Text 2"/>
          <p:cNvSpPr/>
          <p:nvPr/>
        </p:nvSpPr>
        <p:spPr>
          <a:xfrm>
            <a:off x="1117551" y="4558527"/>
            <a:ext cx="3440965" cy="1587698"/>
          </a:xfrm>
          <a:prstGeom prst="rect">
            <a:avLst/>
          </a:prstGeom>
          <a:noFill/>
          <a:ln/>
        </p:spPr>
        <p:txBody>
          <a:bodyPr wrap="square" lIns="0" tIns="0" rIns="0" bIns="0" rtlCol="0" anchor="t"/>
          <a:lstStyle/>
          <a:p>
            <a:pPr marL="0" indent="0" algn="ctr">
              <a:lnSpc>
                <a:spcPts val="2500"/>
              </a:lnSpc>
              <a:buNone/>
            </a:pPr>
            <a:r>
              <a:rPr lang="en-US" sz="2000" dirty="0">
                <a:solidFill>
                  <a:srgbClr val="333F70"/>
                </a:solidFill>
                <a:latin typeface="Times New Roman" panose="02020603050405020304" pitchFamily="18" charset="0"/>
                <a:ea typeface="Open Sans" pitchFamily="34" charset="-122"/>
                <a:cs typeface="Times New Roman" panose="02020603050405020304" pitchFamily="18" charset="0"/>
              </a:rPr>
              <a:t>The internet gives quick access to news, research, learning and entertainment for billions of people worldwide.</a:t>
            </a:r>
            <a:endParaRPr lang="en-US" sz="2000" dirty="0">
              <a:latin typeface="Times New Roman" panose="02020603050405020304" pitchFamily="18" charset="0"/>
              <a:cs typeface="Times New Roman" panose="02020603050405020304" pitchFamily="18" charset="0"/>
            </a:endParaRPr>
          </a:p>
        </p:txBody>
      </p:sp>
      <p:pic>
        <p:nvPicPr>
          <p:cNvPr id="6" name="Image 1" descr="preencoded.png"/>
          <p:cNvPicPr>
            <a:picLocks noChangeAspect="1"/>
          </p:cNvPicPr>
          <p:nvPr/>
        </p:nvPicPr>
        <p:blipFill>
          <a:blip r:embed="rId4"/>
          <a:stretch>
            <a:fillRect/>
          </a:stretch>
        </p:blipFill>
        <p:spPr>
          <a:xfrm>
            <a:off x="6296145" y="1273639"/>
            <a:ext cx="2116335" cy="2303112"/>
          </a:xfrm>
          <a:prstGeom prst="rect">
            <a:avLst/>
          </a:prstGeom>
        </p:spPr>
      </p:pic>
      <p:sp>
        <p:nvSpPr>
          <p:cNvPr id="7" name="Text 3"/>
          <p:cNvSpPr/>
          <p:nvPr/>
        </p:nvSpPr>
        <p:spPr>
          <a:xfrm>
            <a:off x="5954434" y="3804641"/>
            <a:ext cx="2721531" cy="620316"/>
          </a:xfrm>
          <a:prstGeom prst="rect">
            <a:avLst/>
          </a:prstGeom>
          <a:noFill/>
          <a:ln/>
        </p:spPr>
        <p:txBody>
          <a:bodyPr wrap="square" lIns="0" tIns="0" rIns="0" bIns="0" rtlCol="0" anchor="t"/>
          <a:lstStyle/>
          <a:p>
            <a:pPr marL="0" indent="0" algn="ctr">
              <a:lnSpc>
                <a:spcPts val="2400"/>
              </a:lnSpc>
              <a:buNone/>
            </a:pPr>
            <a:r>
              <a:rPr lang="en-US" sz="2400" b="1" dirty="0">
                <a:solidFill>
                  <a:srgbClr val="333F70"/>
                </a:solidFill>
                <a:latin typeface="Times New Roman" panose="02020603050405020304" pitchFamily="18" charset="0"/>
                <a:ea typeface="Unbounded Bold" pitchFamily="34" charset="-122"/>
                <a:cs typeface="Times New Roman" panose="02020603050405020304" pitchFamily="18" charset="0"/>
              </a:rPr>
              <a:t>Beyond Computers</a:t>
            </a:r>
            <a:endParaRPr lang="en-US" sz="2400" dirty="0">
              <a:latin typeface="Times New Roman" panose="02020603050405020304" pitchFamily="18" charset="0"/>
              <a:cs typeface="Times New Roman" panose="02020603050405020304" pitchFamily="18" charset="0"/>
            </a:endParaRPr>
          </a:p>
        </p:txBody>
      </p:sp>
      <p:sp>
        <p:nvSpPr>
          <p:cNvPr id="8" name="Text 4"/>
          <p:cNvSpPr/>
          <p:nvPr/>
        </p:nvSpPr>
        <p:spPr>
          <a:xfrm>
            <a:off x="6296145" y="4558527"/>
            <a:ext cx="3110150" cy="1587698"/>
          </a:xfrm>
          <a:prstGeom prst="rect">
            <a:avLst/>
          </a:prstGeom>
          <a:noFill/>
          <a:ln/>
        </p:spPr>
        <p:txBody>
          <a:bodyPr wrap="square" lIns="0" tIns="0" rIns="0" bIns="0" rtlCol="0" anchor="t"/>
          <a:lstStyle/>
          <a:p>
            <a:pPr marL="0" indent="0" algn="ctr">
              <a:lnSpc>
                <a:spcPts val="2500"/>
              </a:lnSpc>
              <a:buNone/>
            </a:pPr>
            <a:r>
              <a:rPr lang="en-US" sz="2000" dirty="0">
                <a:solidFill>
                  <a:srgbClr val="333F70"/>
                </a:solidFill>
                <a:latin typeface="Times New Roman" panose="02020603050405020304" pitchFamily="18" charset="0"/>
                <a:ea typeface="Open Sans" pitchFamily="34" charset="-122"/>
                <a:cs typeface="Times New Roman" panose="02020603050405020304" pitchFamily="18" charset="0"/>
              </a:rPr>
              <a:t>Internet-connected devices — phones, watches, appliances — bring connectivity into everyday objects.</a:t>
            </a:r>
            <a:endParaRPr lang="en-US" sz="2000" dirty="0">
              <a:latin typeface="Times New Roman" panose="02020603050405020304" pitchFamily="18" charset="0"/>
              <a:cs typeface="Times New Roman" panose="02020603050405020304" pitchFamily="18" charset="0"/>
            </a:endParaRPr>
          </a:p>
        </p:txBody>
      </p:sp>
      <p:pic>
        <p:nvPicPr>
          <p:cNvPr id="9" name="Image 2" descr="preencoded.png"/>
          <p:cNvPicPr>
            <a:picLocks noChangeAspect="1"/>
          </p:cNvPicPr>
          <p:nvPr/>
        </p:nvPicPr>
        <p:blipFill>
          <a:blip r:embed="rId5"/>
          <a:stretch>
            <a:fillRect/>
          </a:stretch>
        </p:blipFill>
        <p:spPr>
          <a:xfrm>
            <a:off x="11136799" y="1213673"/>
            <a:ext cx="2011680" cy="2514501"/>
          </a:xfrm>
          <a:prstGeom prst="rect">
            <a:avLst/>
          </a:prstGeom>
        </p:spPr>
      </p:pic>
      <p:sp>
        <p:nvSpPr>
          <p:cNvPr id="10" name="Text 5"/>
          <p:cNvSpPr/>
          <p:nvPr/>
        </p:nvSpPr>
        <p:spPr>
          <a:xfrm>
            <a:off x="10781874" y="3874416"/>
            <a:ext cx="2721531" cy="620316"/>
          </a:xfrm>
          <a:prstGeom prst="rect">
            <a:avLst/>
          </a:prstGeom>
          <a:noFill/>
          <a:ln/>
        </p:spPr>
        <p:txBody>
          <a:bodyPr wrap="square" lIns="0" tIns="0" rIns="0" bIns="0" rtlCol="0" anchor="t"/>
          <a:lstStyle/>
          <a:p>
            <a:pPr marL="0" indent="0" algn="l">
              <a:lnSpc>
                <a:spcPts val="2400"/>
              </a:lnSpc>
              <a:buNone/>
            </a:pPr>
            <a:r>
              <a:rPr lang="en-US" sz="2400" b="1" dirty="0">
                <a:solidFill>
                  <a:srgbClr val="333F70"/>
                </a:solidFill>
                <a:latin typeface="Times New Roman" panose="02020603050405020304" pitchFamily="18" charset="0"/>
                <a:ea typeface="Unbounded Bold" pitchFamily="34" charset="-122"/>
                <a:cs typeface="Times New Roman" panose="02020603050405020304" pitchFamily="18" charset="0"/>
              </a:rPr>
              <a:t>Constant Evolution</a:t>
            </a:r>
            <a:endParaRPr lang="en-US" sz="2400" dirty="0">
              <a:latin typeface="Times New Roman" panose="02020603050405020304" pitchFamily="18" charset="0"/>
              <a:cs typeface="Times New Roman" panose="02020603050405020304" pitchFamily="18" charset="0"/>
            </a:endParaRPr>
          </a:p>
        </p:txBody>
      </p:sp>
      <p:sp>
        <p:nvSpPr>
          <p:cNvPr id="11" name="Text 6"/>
          <p:cNvSpPr/>
          <p:nvPr/>
        </p:nvSpPr>
        <p:spPr>
          <a:xfrm>
            <a:off x="10587566" y="4574117"/>
            <a:ext cx="3110149" cy="1270159"/>
          </a:xfrm>
          <a:prstGeom prst="rect">
            <a:avLst/>
          </a:prstGeom>
          <a:noFill/>
          <a:ln/>
        </p:spPr>
        <p:txBody>
          <a:bodyPr wrap="square" lIns="0" tIns="0" rIns="0" bIns="0" rtlCol="0" anchor="t"/>
          <a:lstStyle/>
          <a:p>
            <a:pPr marL="0" indent="0" algn="ctr">
              <a:lnSpc>
                <a:spcPts val="2500"/>
              </a:lnSpc>
              <a:buNone/>
            </a:pPr>
            <a:r>
              <a:rPr lang="en-US" sz="2000" dirty="0">
                <a:solidFill>
                  <a:srgbClr val="333F70"/>
                </a:solidFill>
                <a:latin typeface="Times New Roman" panose="02020603050405020304" pitchFamily="18" charset="0"/>
                <a:ea typeface="Open Sans" pitchFamily="34" charset="-122"/>
                <a:cs typeface="Times New Roman" panose="02020603050405020304" pitchFamily="18" charset="0"/>
              </a:rPr>
              <a:t>New applications, protocols and services continue to change how we use the network and what it enables.</a:t>
            </a:r>
            <a:endParaRPr lang="en-US" sz="2000" dirty="0">
              <a:latin typeface="Times New Roman" panose="02020603050405020304" pitchFamily="18" charset="0"/>
              <a:cs typeface="Times New Roman" panose="02020603050405020304" pitchFamily="18" charset="0"/>
            </a:endParaRPr>
          </a:p>
        </p:txBody>
      </p:sp>
      <p:sp>
        <p:nvSpPr>
          <p:cNvPr id="12" name="Text 7"/>
          <p:cNvSpPr/>
          <p:nvPr/>
        </p:nvSpPr>
        <p:spPr>
          <a:xfrm>
            <a:off x="654894" y="7552670"/>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333F70"/>
                </a:solidFill>
                <a:latin typeface="Times New Roman" panose="02020603050405020304" pitchFamily="18" charset="0"/>
                <a:ea typeface="Open Sans" pitchFamily="34" charset="-122"/>
                <a:cs typeface="Times New Roman" panose="02020603050405020304" pitchFamily="18" charset="0"/>
              </a:rPr>
              <a:t> Reference: Internet Society — "Brief History of the Internet".(5)</a:t>
            </a:r>
            <a:endParaRPr lang="en-US" sz="1550" dirty="0">
              <a:latin typeface="Times New Roman" panose="02020603050405020304" pitchFamily="18" charset="0"/>
              <a:cs typeface="Times New Roman" panose="02020603050405020304" pitchFamily="18" charset="0"/>
            </a:endParaRPr>
          </a:p>
        </p:txBody>
      </p:sp>
      <p:sp>
        <p:nvSpPr>
          <p:cNvPr id="13" name="Rectangle 12">
            <a:extLst>
              <a:ext uri="{FF2B5EF4-FFF2-40B4-BE49-F238E27FC236}">
                <a16:creationId xmlns:a16="http://schemas.microsoft.com/office/drawing/2014/main" id="{91BEF042-4AB2-4A7F-BB4F-3AB4202B6DF6}"/>
              </a:ext>
            </a:extLst>
          </p:cNvPr>
          <p:cNvSpPr/>
          <p:nvPr/>
        </p:nvSpPr>
        <p:spPr>
          <a:xfrm>
            <a:off x="12466320" y="7711440"/>
            <a:ext cx="2133600" cy="45720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705326"/>
            <a:ext cx="3969425" cy="496133"/>
          </a:xfrm>
          <a:prstGeom prst="rect">
            <a:avLst/>
          </a:prstGeom>
          <a:noFill/>
          <a:ln/>
        </p:spPr>
        <p:txBody>
          <a:bodyPr wrap="none" lIns="0" tIns="0" rIns="0" bIns="0" rtlCol="0" anchor="t"/>
          <a:lstStyle/>
          <a:p>
            <a:pPr marL="0" indent="0" algn="l">
              <a:lnSpc>
                <a:spcPts val="3900"/>
              </a:lnSpc>
              <a:buNone/>
            </a:pPr>
            <a:r>
              <a:rPr lang="en-US" sz="5400" b="1" dirty="0">
                <a:solidFill>
                  <a:srgbClr val="333F70"/>
                </a:solidFill>
                <a:latin typeface="Times New Roman" panose="02020603050405020304" pitchFamily="18" charset="0"/>
                <a:ea typeface="Unbounded Bold" pitchFamily="34" charset="-122"/>
                <a:cs typeface="Times New Roman" panose="02020603050405020304" pitchFamily="18" charset="0"/>
              </a:rPr>
              <a:t>Key Milestones</a:t>
            </a:r>
            <a:endParaRPr lang="en-US" sz="5400" dirty="0">
              <a:latin typeface="Times New Roman" panose="02020603050405020304" pitchFamily="18" charset="0"/>
              <a:cs typeface="Times New Roman" panose="02020603050405020304" pitchFamily="18" charset="0"/>
            </a:endParaRPr>
          </a:p>
        </p:txBody>
      </p:sp>
      <p:sp>
        <p:nvSpPr>
          <p:cNvPr id="3" name="Shape 1"/>
          <p:cNvSpPr/>
          <p:nvPr/>
        </p:nvSpPr>
        <p:spPr>
          <a:xfrm>
            <a:off x="7303770" y="1598295"/>
            <a:ext cx="22860" cy="5925860"/>
          </a:xfrm>
          <a:prstGeom prst="roundRect">
            <a:avLst>
              <a:gd name="adj" fmla="val 364651"/>
            </a:avLst>
          </a:prstGeom>
          <a:solidFill>
            <a:srgbClr val="BCDBD4"/>
          </a:solidFill>
          <a:ln/>
        </p:spPr>
      </p:sp>
      <p:sp>
        <p:nvSpPr>
          <p:cNvPr id="4" name="Shape 2"/>
          <p:cNvSpPr/>
          <p:nvPr/>
        </p:nvSpPr>
        <p:spPr>
          <a:xfrm>
            <a:off x="6519505" y="1810107"/>
            <a:ext cx="595313" cy="22860"/>
          </a:xfrm>
          <a:prstGeom prst="roundRect">
            <a:avLst>
              <a:gd name="adj" fmla="val 364651"/>
            </a:avLst>
          </a:prstGeom>
          <a:solidFill>
            <a:srgbClr val="BCDBD4"/>
          </a:solidFill>
          <a:ln/>
        </p:spPr>
      </p:sp>
      <p:sp>
        <p:nvSpPr>
          <p:cNvPr id="5" name="Shape 3"/>
          <p:cNvSpPr/>
          <p:nvPr/>
        </p:nvSpPr>
        <p:spPr>
          <a:xfrm>
            <a:off x="7091958" y="1598295"/>
            <a:ext cx="446484" cy="446484"/>
          </a:xfrm>
          <a:prstGeom prst="roundRect">
            <a:avLst>
              <a:gd name="adj" fmla="val 18670"/>
            </a:avLst>
          </a:prstGeom>
          <a:solidFill>
            <a:srgbClr val="D6F5EE"/>
          </a:solidFill>
          <a:ln w="7620">
            <a:solidFill>
              <a:srgbClr val="BCDBD4"/>
            </a:solidFill>
            <a:prstDash val="solid"/>
          </a:ln>
        </p:spPr>
      </p:sp>
      <p:sp>
        <p:nvSpPr>
          <p:cNvPr id="6" name="Text 4"/>
          <p:cNvSpPr/>
          <p:nvPr/>
        </p:nvSpPr>
        <p:spPr>
          <a:xfrm>
            <a:off x="7166372" y="1635502"/>
            <a:ext cx="297656" cy="372070"/>
          </a:xfrm>
          <a:prstGeom prst="rect">
            <a:avLst/>
          </a:prstGeom>
          <a:noFill/>
          <a:ln/>
        </p:spPr>
        <p:txBody>
          <a:bodyPr wrap="none" lIns="0" tIns="0" rIns="0" bIns="0" rtlCol="0" anchor="ctr"/>
          <a:lstStyle/>
          <a:p>
            <a:pPr marL="0" indent="0" algn="ctr">
              <a:lnSpc>
                <a:spcPts val="2300"/>
              </a:lnSpc>
              <a:buNone/>
            </a:pPr>
            <a:r>
              <a:rPr lang="en-US" sz="2300" b="1" dirty="0">
                <a:solidFill>
                  <a:srgbClr val="333F70"/>
                </a:solidFill>
                <a:latin typeface="Times New Roman" panose="02020603050405020304" pitchFamily="18" charset="0"/>
                <a:ea typeface="Unbounded Bold" pitchFamily="34" charset="-122"/>
                <a:cs typeface="Times New Roman" panose="02020603050405020304" pitchFamily="18" charset="0"/>
              </a:rPr>
              <a:t>1</a:t>
            </a:r>
            <a:endParaRPr lang="en-US" sz="2300" dirty="0">
              <a:latin typeface="Times New Roman" panose="02020603050405020304" pitchFamily="18" charset="0"/>
              <a:cs typeface="Times New Roman" panose="02020603050405020304" pitchFamily="18" charset="0"/>
            </a:endParaRPr>
          </a:p>
        </p:txBody>
      </p:sp>
      <p:sp>
        <p:nvSpPr>
          <p:cNvPr id="7" name="Text 5"/>
          <p:cNvSpPr/>
          <p:nvPr/>
        </p:nvSpPr>
        <p:spPr>
          <a:xfrm>
            <a:off x="3638907" y="1666518"/>
            <a:ext cx="2684026" cy="310158"/>
          </a:xfrm>
          <a:prstGeom prst="rect">
            <a:avLst/>
          </a:prstGeom>
          <a:noFill/>
          <a:ln/>
        </p:spPr>
        <p:txBody>
          <a:bodyPr wrap="none" lIns="0" tIns="0" rIns="0" bIns="0" rtlCol="0" anchor="t"/>
          <a:lstStyle/>
          <a:p>
            <a:pPr marL="0" indent="0" algn="r">
              <a:lnSpc>
                <a:spcPts val="2400"/>
              </a:lnSpc>
              <a:buNone/>
            </a:pPr>
            <a:r>
              <a:rPr lang="en-US" sz="2800" b="1" dirty="0">
                <a:solidFill>
                  <a:srgbClr val="333F70"/>
                </a:solidFill>
                <a:latin typeface="Times New Roman" panose="02020603050405020304" pitchFamily="18" charset="0"/>
                <a:ea typeface="Unbounded Bold" pitchFamily="34" charset="-122"/>
                <a:cs typeface="Times New Roman" panose="02020603050405020304" pitchFamily="18" charset="0"/>
              </a:rPr>
              <a:t>1969 — ARPANET</a:t>
            </a:r>
            <a:endParaRPr lang="en-US" sz="2800" dirty="0">
              <a:latin typeface="Times New Roman" panose="02020603050405020304" pitchFamily="18" charset="0"/>
              <a:cs typeface="Times New Roman" panose="02020603050405020304" pitchFamily="18" charset="0"/>
            </a:endParaRPr>
          </a:p>
        </p:txBody>
      </p:sp>
      <p:sp>
        <p:nvSpPr>
          <p:cNvPr id="8" name="Text 6"/>
          <p:cNvSpPr/>
          <p:nvPr/>
        </p:nvSpPr>
        <p:spPr>
          <a:xfrm>
            <a:off x="793790" y="2095738"/>
            <a:ext cx="5529143" cy="317540"/>
          </a:xfrm>
          <a:prstGeom prst="rect">
            <a:avLst/>
          </a:prstGeom>
          <a:noFill/>
          <a:ln/>
        </p:spPr>
        <p:txBody>
          <a:bodyPr wrap="none" lIns="0" tIns="0" rIns="0" bIns="0" rtlCol="0" anchor="t"/>
          <a:lstStyle/>
          <a:p>
            <a:pPr marL="0" indent="0" algn="r">
              <a:lnSpc>
                <a:spcPts val="2500"/>
              </a:lnSpc>
              <a:buNone/>
            </a:pPr>
            <a:r>
              <a:rPr lang="en-US" sz="2000" dirty="0">
                <a:solidFill>
                  <a:srgbClr val="333F70"/>
                </a:solidFill>
                <a:latin typeface="Times New Roman" panose="02020603050405020304" pitchFamily="18" charset="0"/>
                <a:ea typeface="Open Sans" pitchFamily="34" charset="-122"/>
                <a:cs typeface="Times New Roman" panose="02020603050405020304" pitchFamily="18" charset="0"/>
              </a:rPr>
              <a:t>First operational packet-switched network.</a:t>
            </a:r>
            <a:endParaRPr lang="en-US" sz="2000" dirty="0">
              <a:latin typeface="Times New Roman" panose="02020603050405020304" pitchFamily="18" charset="0"/>
              <a:cs typeface="Times New Roman" panose="02020603050405020304" pitchFamily="18" charset="0"/>
            </a:endParaRPr>
          </a:p>
        </p:txBody>
      </p:sp>
      <p:sp>
        <p:nvSpPr>
          <p:cNvPr id="9" name="Shape 7"/>
          <p:cNvSpPr/>
          <p:nvPr/>
        </p:nvSpPr>
        <p:spPr>
          <a:xfrm>
            <a:off x="7515582" y="3000732"/>
            <a:ext cx="595313" cy="22860"/>
          </a:xfrm>
          <a:prstGeom prst="roundRect">
            <a:avLst>
              <a:gd name="adj" fmla="val 364651"/>
            </a:avLst>
          </a:prstGeom>
          <a:solidFill>
            <a:srgbClr val="BCDBD4"/>
          </a:solidFill>
          <a:ln/>
        </p:spPr>
      </p:sp>
      <p:sp>
        <p:nvSpPr>
          <p:cNvPr id="10" name="Shape 8"/>
          <p:cNvSpPr/>
          <p:nvPr/>
        </p:nvSpPr>
        <p:spPr>
          <a:xfrm>
            <a:off x="7091958" y="2788920"/>
            <a:ext cx="446484" cy="446484"/>
          </a:xfrm>
          <a:prstGeom prst="roundRect">
            <a:avLst>
              <a:gd name="adj" fmla="val 18670"/>
            </a:avLst>
          </a:prstGeom>
          <a:solidFill>
            <a:srgbClr val="D6F5EE"/>
          </a:solidFill>
          <a:ln w="7620">
            <a:solidFill>
              <a:srgbClr val="BCDBD4"/>
            </a:solidFill>
            <a:prstDash val="solid"/>
          </a:ln>
        </p:spPr>
      </p:sp>
      <p:sp>
        <p:nvSpPr>
          <p:cNvPr id="11" name="Text 9"/>
          <p:cNvSpPr/>
          <p:nvPr/>
        </p:nvSpPr>
        <p:spPr>
          <a:xfrm>
            <a:off x="7166372" y="2826127"/>
            <a:ext cx="297656" cy="372070"/>
          </a:xfrm>
          <a:prstGeom prst="rect">
            <a:avLst/>
          </a:prstGeom>
          <a:noFill/>
          <a:ln/>
        </p:spPr>
        <p:txBody>
          <a:bodyPr wrap="none" lIns="0" tIns="0" rIns="0" bIns="0" rtlCol="0" anchor="ctr"/>
          <a:lstStyle/>
          <a:p>
            <a:pPr marL="0" indent="0" algn="ctr">
              <a:lnSpc>
                <a:spcPts val="2300"/>
              </a:lnSpc>
              <a:buNone/>
            </a:pPr>
            <a:r>
              <a:rPr lang="en-US" sz="2300" b="1" dirty="0">
                <a:solidFill>
                  <a:srgbClr val="333F70"/>
                </a:solidFill>
                <a:latin typeface="Times New Roman" panose="02020603050405020304" pitchFamily="18" charset="0"/>
                <a:ea typeface="Unbounded Bold" pitchFamily="34" charset="-122"/>
                <a:cs typeface="Times New Roman" panose="02020603050405020304" pitchFamily="18" charset="0"/>
              </a:rPr>
              <a:t>2</a:t>
            </a:r>
            <a:endParaRPr lang="en-US" sz="2300" dirty="0">
              <a:latin typeface="Times New Roman" panose="02020603050405020304" pitchFamily="18" charset="0"/>
              <a:cs typeface="Times New Roman" panose="02020603050405020304" pitchFamily="18" charset="0"/>
            </a:endParaRPr>
          </a:p>
        </p:txBody>
      </p:sp>
      <p:sp>
        <p:nvSpPr>
          <p:cNvPr id="12" name="Text 10"/>
          <p:cNvSpPr/>
          <p:nvPr/>
        </p:nvSpPr>
        <p:spPr>
          <a:xfrm>
            <a:off x="8307467" y="2857143"/>
            <a:ext cx="2732127" cy="310158"/>
          </a:xfrm>
          <a:prstGeom prst="rect">
            <a:avLst/>
          </a:prstGeom>
          <a:noFill/>
          <a:ln/>
        </p:spPr>
        <p:txBody>
          <a:bodyPr wrap="none" lIns="0" tIns="0" rIns="0" bIns="0" rtlCol="0" anchor="t"/>
          <a:lstStyle/>
          <a:p>
            <a:pPr marL="0" indent="0" algn="l">
              <a:lnSpc>
                <a:spcPts val="2400"/>
              </a:lnSpc>
              <a:buNone/>
            </a:pPr>
            <a:r>
              <a:rPr lang="en-US" sz="2800" b="1" dirty="0">
                <a:solidFill>
                  <a:srgbClr val="333F70"/>
                </a:solidFill>
                <a:latin typeface="Times New Roman" panose="02020603050405020304" pitchFamily="18" charset="0"/>
                <a:ea typeface="Unbounded Bold" pitchFamily="34" charset="-122"/>
                <a:cs typeface="Times New Roman" panose="02020603050405020304" pitchFamily="18" charset="0"/>
              </a:rPr>
              <a:t>1971 — First Email</a:t>
            </a:r>
            <a:endParaRPr lang="en-US" sz="2800" dirty="0">
              <a:latin typeface="Times New Roman" panose="02020603050405020304" pitchFamily="18" charset="0"/>
              <a:cs typeface="Times New Roman" panose="02020603050405020304" pitchFamily="18" charset="0"/>
            </a:endParaRPr>
          </a:p>
        </p:txBody>
      </p:sp>
      <p:sp>
        <p:nvSpPr>
          <p:cNvPr id="13" name="Text 11"/>
          <p:cNvSpPr/>
          <p:nvPr/>
        </p:nvSpPr>
        <p:spPr>
          <a:xfrm>
            <a:off x="8307467" y="3286363"/>
            <a:ext cx="5529143" cy="317540"/>
          </a:xfrm>
          <a:prstGeom prst="rect">
            <a:avLst/>
          </a:prstGeom>
          <a:noFill/>
          <a:ln/>
        </p:spPr>
        <p:txBody>
          <a:bodyPr wrap="none" lIns="0" tIns="0" rIns="0" bIns="0" rtlCol="0" anchor="t"/>
          <a:lstStyle/>
          <a:p>
            <a:pPr marL="0" indent="0" algn="l">
              <a:lnSpc>
                <a:spcPts val="2500"/>
              </a:lnSpc>
              <a:buNone/>
            </a:pPr>
            <a:r>
              <a:rPr lang="en-US" sz="2000" dirty="0">
                <a:solidFill>
                  <a:srgbClr val="333F70"/>
                </a:solidFill>
                <a:latin typeface="Times New Roman" panose="02020603050405020304" pitchFamily="18" charset="0"/>
                <a:ea typeface="Open Sans" pitchFamily="34" charset="-122"/>
                <a:cs typeface="Times New Roman" panose="02020603050405020304" pitchFamily="18" charset="0"/>
              </a:rPr>
              <a:t>Ray Tomlinson sends the first message across a network.</a:t>
            </a:r>
            <a:endParaRPr lang="en-US" sz="2000" dirty="0">
              <a:latin typeface="Times New Roman" panose="02020603050405020304" pitchFamily="18" charset="0"/>
              <a:cs typeface="Times New Roman" panose="02020603050405020304" pitchFamily="18" charset="0"/>
            </a:endParaRPr>
          </a:p>
        </p:txBody>
      </p:sp>
      <p:sp>
        <p:nvSpPr>
          <p:cNvPr id="14" name="Shape 12"/>
          <p:cNvSpPr/>
          <p:nvPr/>
        </p:nvSpPr>
        <p:spPr>
          <a:xfrm>
            <a:off x="6519505" y="4027051"/>
            <a:ext cx="595313" cy="22860"/>
          </a:xfrm>
          <a:prstGeom prst="roundRect">
            <a:avLst>
              <a:gd name="adj" fmla="val 364651"/>
            </a:avLst>
          </a:prstGeom>
          <a:solidFill>
            <a:srgbClr val="BCDBD4"/>
          </a:solidFill>
          <a:ln/>
        </p:spPr>
      </p:sp>
      <p:sp>
        <p:nvSpPr>
          <p:cNvPr id="15" name="Shape 13"/>
          <p:cNvSpPr/>
          <p:nvPr/>
        </p:nvSpPr>
        <p:spPr>
          <a:xfrm>
            <a:off x="7091958" y="3815239"/>
            <a:ext cx="446484" cy="446484"/>
          </a:xfrm>
          <a:prstGeom prst="roundRect">
            <a:avLst>
              <a:gd name="adj" fmla="val 18670"/>
            </a:avLst>
          </a:prstGeom>
          <a:solidFill>
            <a:srgbClr val="D6F5EE"/>
          </a:solidFill>
          <a:ln w="7620">
            <a:solidFill>
              <a:srgbClr val="BCDBD4"/>
            </a:solidFill>
            <a:prstDash val="solid"/>
          </a:ln>
        </p:spPr>
      </p:sp>
      <p:sp>
        <p:nvSpPr>
          <p:cNvPr id="16" name="Text 14"/>
          <p:cNvSpPr/>
          <p:nvPr/>
        </p:nvSpPr>
        <p:spPr>
          <a:xfrm>
            <a:off x="7166372" y="3852446"/>
            <a:ext cx="297656" cy="372070"/>
          </a:xfrm>
          <a:prstGeom prst="rect">
            <a:avLst/>
          </a:prstGeom>
          <a:noFill/>
          <a:ln/>
        </p:spPr>
        <p:txBody>
          <a:bodyPr wrap="none" lIns="0" tIns="0" rIns="0" bIns="0" rtlCol="0" anchor="ctr"/>
          <a:lstStyle/>
          <a:p>
            <a:pPr marL="0" indent="0" algn="ctr">
              <a:lnSpc>
                <a:spcPts val="2300"/>
              </a:lnSpc>
              <a:buNone/>
            </a:pPr>
            <a:r>
              <a:rPr lang="en-US" sz="2300" b="1" dirty="0">
                <a:solidFill>
                  <a:srgbClr val="333F70"/>
                </a:solidFill>
                <a:latin typeface="Times New Roman" panose="02020603050405020304" pitchFamily="18" charset="0"/>
                <a:ea typeface="Unbounded Bold" pitchFamily="34" charset="-122"/>
                <a:cs typeface="Times New Roman" panose="02020603050405020304" pitchFamily="18" charset="0"/>
              </a:rPr>
              <a:t>3</a:t>
            </a:r>
            <a:endParaRPr lang="en-US" sz="2300" dirty="0">
              <a:latin typeface="Times New Roman" panose="02020603050405020304" pitchFamily="18" charset="0"/>
              <a:cs typeface="Times New Roman" panose="02020603050405020304" pitchFamily="18" charset="0"/>
            </a:endParaRPr>
          </a:p>
        </p:txBody>
      </p:sp>
      <p:sp>
        <p:nvSpPr>
          <p:cNvPr id="17" name="Text 15"/>
          <p:cNvSpPr/>
          <p:nvPr/>
        </p:nvSpPr>
        <p:spPr>
          <a:xfrm>
            <a:off x="3842028" y="3883462"/>
            <a:ext cx="2480905" cy="310158"/>
          </a:xfrm>
          <a:prstGeom prst="rect">
            <a:avLst/>
          </a:prstGeom>
          <a:noFill/>
          <a:ln/>
        </p:spPr>
        <p:txBody>
          <a:bodyPr wrap="none" lIns="0" tIns="0" rIns="0" bIns="0" rtlCol="0" anchor="t"/>
          <a:lstStyle/>
          <a:p>
            <a:pPr marL="0" indent="0" algn="r">
              <a:lnSpc>
                <a:spcPts val="2400"/>
              </a:lnSpc>
              <a:buNone/>
            </a:pPr>
            <a:r>
              <a:rPr lang="en-US" sz="2800" b="1" dirty="0">
                <a:solidFill>
                  <a:srgbClr val="333F70"/>
                </a:solidFill>
                <a:latin typeface="Times New Roman" panose="02020603050405020304" pitchFamily="18" charset="0"/>
                <a:ea typeface="Unbounded Bold" pitchFamily="34" charset="-122"/>
                <a:cs typeface="Times New Roman" panose="02020603050405020304" pitchFamily="18" charset="0"/>
              </a:rPr>
              <a:t>1974 — TCP/IP</a:t>
            </a:r>
            <a:endParaRPr lang="en-US" sz="2800" dirty="0">
              <a:latin typeface="Times New Roman" panose="02020603050405020304" pitchFamily="18" charset="0"/>
              <a:cs typeface="Times New Roman" panose="02020603050405020304" pitchFamily="18" charset="0"/>
            </a:endParaRPr>
          </a:p>
        </p:txBody>
      </p:sp>
      <p:sp>
        <p:nvSpPr>
          <p:cNvPr id="18" name="Text 16"/>
          <p:cNvSpPr/>
          <p:nvPr/>
        </p:nvSpPr>
        <p:spPr>
          <a:xfrm>
            <a:off x="793790" y="4312682"/>
            <a:ext cx="5529143" cy="317540"/>
          </a:xfrm>
          <a:prstGeom prst="rect">
            <a:avLst/>
          </a:prstGeom>
          <a:noFill/>
          <a:ln/>
        </p:spPr>
        <p:txBody>
          <a:bodyPr wrap="none" lIns="0" tIns="0" rIns="0" bIns="0" rtlCol="0" anchor="t"/>
          <a:lstStyle/>
          <a:p>
            <a:pPr marL="0" indent="0" algn="r">
              <a:lnSpc>
                <a:spcPts val="2500"/>
              </a:lnSpc>
              <a:buNone/>
            </a:pPr>
            <a:r>
              <a:rPr lang="en-US" sz="2000" dirty="0">
                <a:solidFill>
                  <a:srgbClr val="333F70"/>
                </a:solidFill>
                <a:latin typeface="Times New Roman" panose="02020603050405020304" pitchFamily="18" charset="0"/>
                <a:ea typeface="Open Sans" pitchFamily="34" charset="-122"/>
                <a:cs typeface="Times New Roman" panose="02020603050405020304" pitchFamily="18" charset="0"/>
              </a:rPr>
              <a:t>Standards enabling network interoperability are defined.</a:t>
            </a:r>
            <a:endParaRPr lang="en-US" sz="2000" dirty="0">
              <a:latin typeface="Times New Roman" panose="02020603050405020304" pitchFamily="18" charset="0"/>
              <a:cs typeface="Times New Roman" panose="02020603050405020304" pitchFamily="18" charset="0"/>
            </a:endParaRPr>
          </a:p>
        </p:txBody>
      </p:sp>
      <p:sp>
        <p:nvSpPr>
          <p:cNvPr id="19" name="Shape 17"/>
          <p:cNvSpPr/>
          <p:nvPr/>
        </p:nvSpPr>
        <p:spPr>
          <a:xfrm>
            <a:off x="7515582" y="5053489"/>
            <a:ext cx="595313" cy="22860"/>
          </a:xfrm>
          <a:prstGeom prst="roundRect">
            <a:avLst>
              <a:gd name="adj" fmla="val 364651"/>
            </a:avLst>
          </a:prstGeom>
          <a:solidFill>
            <a:srgbClr val="BCDBD4"/>
          </a:solidFill>
          <a:ln/>
        </p:spPr>
      </p:sp>
      <p:sp>
        <p:nvSpPr>
          <p:cNvPr id="20" name="Shape 18"/>
          <p:cNvSpPr/>
          <p:nvPr/>
        </p:nvSpPr>
        <p:spPr>
          <a:xfrm>
            <a:off x="7091958" y="4841677"/>
            <a:ext cx="446484" cy="446484"/>
          </a:xfrm>
          <a:prstGeom prst="roundRect">
            <a:avLst>
              <a:gd name="adj" fmla="val 18670"/>
            </a:avLst>
          </a:prstGeom>
          <a:solidFill>
            <a:srgbClr val="D6F5EE"/>
          </a:solidFill>
          <a:ln w="7620">
            <a:solidFill>
              <a:srgbClr val="BCDBD4"/>
            </a:solidFill>
            <a:prstDash val="solid"/>
          </a:ln>
        </p:spPr>
      </p:sp>
      <p:sp>
        <p:nvSpPr>
          <p:cNvPr id="21" name="Text 19"/>
          <p:cNvSpPr/>
          <p:nvPr/>
        </p:nvSpPr>
        <p:spPr>
          <a:xfrm>
            <a:off x="7166372" y="4878884"/>
            <a:ext cx="297656" cy="372070"/>
          </a:xfrm>
          <a:prstGeom prst="rect">
            <a:avLst/>
          </a:prstGeom>
          <a:noFill/>
          <a:ln/>
        </p:spPr>
        <p:txBody>
          <a:bodyPr wrap="none" lIns="0" tIns="0" rIns="0" bIns="0" rtlCol="0" anchor="ctr"/>
          <a:lstStyle/>
          <a:p>
            <a:pPr marL="0" indent="0" algn="ctr">
              <a:lnSpc>
                <a:spcPts val="2300"/>
              </a:lnSpc>
              <a:buNone/>
            </a:pPr>
            <a:r>
              <a:rPr lang="en-US" sz="2300" b="1" dirty="0">
                <a:solidFill>
                  <a:srgbClr val="333F70"/>
                </a:solidFill>
                <a:latin typeface="Times New Roman" panose="02020603050405020304" pitchFamily="18" charset="0"/>
                <a:ea typeface="Unbounded Bold" pitchFamily="34" charset="-122"/>
                <a:cs typeface="Times New Roman" panose="02020603050405020304" pitchFamily="18" charset="0"/>
              </a:rPr>
              <a:t>4</a:t>
            </a:r>
            <a:endParaRPr lang="en-US" sz="2300" dirty="0">
              <a:latin typeface="Times New Roman" panose="02020603050405020304" pitchFamily="18" charset="0"/>
              <a:cs typeface="Times New Roman" panose="02020603050405020304" pitchFamily="18" charset="0"/>
            </a:endParaRPr>
          </a:p>
        </p:txBody>
      </p:sp>
      <p:sp>
        <p:nvSpPr>
          <p:cNvPr id="22" name="Text 20"/>
          <p:cNvSpPr/>
          <p:nvPr/>
        </p:nvSpPr>
        <p:spPr>
          <a:xfrm>
            <a:off x="8307467" y="4909899"/>
            <a:ext cx="2480905" cy="310158"/>
          </a:xfrm>
          <a:prstGeom prst="rect">
            <a:avLst/>
          </a:prstGeom>
          <a:noFill/>
          <a:ln/>
        </p:spPr>
        <p:txBody>
          <a:bodyPr wrap="none" lIns="0" tIns="0" rIns="0" bIns="0" rtlCol="0" anchor="t"/>
          <a:lstStyle/>
          <a:p>
            <a:pPr marL="0" indent="0" algn="l">
              <a:lnSpc>
                <a:spcPts val="2400"/>
              </a:lnSpc>
              <a:buNone/>
            </a:pPr>
            <a:r>
              <a:rPr lang="en-US" sz="2800" b="1" dirty="0">
                <a:solidFill>
                  <a:srgbClr val="333F70"/>
                </a:solidFill>
                <a:latin typeface="Times New Roman" panose="02020603050405020304" pitchFamily="18" charset="0"/>
                <a:ea typeface="Unbounded Bold" pitchFamily="34" charset="-122"/>
                <a:cs typeface="Times New Roman" panose="02020603050405020304" pitchFamily="18" charset="0"/>
              </a:rPr>
              <a:t>1983 — DNS</a:t>
            </a:r>
            <a:endParaRPr lang="en-US" sz="2800" dirty="0">
              <a:latin typeface="Times New Roman" panose="02020603050405020304" pitchFamily="18" charset="0"/>
              <a:cs typeface="Times New Roman" panose="02020603050405020304" pitchFamily="18" charset="0"/>
            </a:endParaRPr>
          </a:p>
        </p:txBody>
      </p:sp>
      <p:sp>
        <p:nvSpPr>
          <p:cNvPr id="23" name="Text 21"/>
          <p:cNvSpPr/>
          <p:nvPr/>
        </p:nvSpPr>
        <p:spPr>
          <a:xfrm>
            <a:off x="8307467" y="5339120"/>
            <a:ext cx="5529143" cy="317540"/>
          </a:xfrm>
          <a:prstGeom prst="rect">
            <a:avLst/>
          </a:prstGeom>
          <a:noFill/>
          <a:ln/>
        </p:spPr>
        <p:txBody>
          <a:bodyPr wrap="none" lIns="0" tIns="0" rIns="0" bIns="0" rtlCol="0" anchor="t"/>
          <a:lstStyle/>
          <a:p>
            <a:pPr marL="0" indent="0" algn="l">
              <a:lnSpc>
                <a:spcPts val="2500"/>
              </a:lnSpc>
              <a:buNone/>
            </a:pPr>
            <a:r>
              <a:rPr lang="en-US" sz="2000" dirty="0">
                <a:solidFill>
                  <a:srgbClr val="333F70"/>
                </a:solidFill>
                <a:latin typeface="Times New Roman" panose="02020603050405020304" pitchFamily="18" charset="0"/>
                <a:ea typeface="Open Sans" pitchFamily="34" charset="-122"/>
                <a:cs typeface="Times New Roman" panose="02020603050405020304" pitchFamily="18" charset="0"/>
              </a:rPr>
              <a:t>Human-friendly domain names are introduced.</a:t>
            </a:r>
            <a:endParaRPr lang="en-US" sz="2000" dirty="0">
              <a:latin typeface="Times New Roman" panose="02020603050405020304" pitchFamily="18" charset="0"/>
              <a:cs typeface="Times New Roman" panose="02020603050405020304" pitchFamily="18" charset="0"/>
            </a:endParaRPr>
          </a:p>
        </p:txBody>
      </p:sp>
      <p:sp>
        <p:nvSpPr>
          <p:cNvPr id="24" name="Shape 22"/>
          <p:cNvSpPr/>
          <p:nvPr/>
        </p:nvSpPr>
        <p:spPr>
          <a:xfrm>
            <a:off x="6519505" y="6079927"/>
            <a:ext cx="595313" cy="22860"/>
          </a:xfrm>
          <a:prstGeom prst="roundRect">
            <a:avLst>
              <a:gd name="adj" fmla="val 364651"/>
            </a:avLst>
          </a:prstGeom>
          <a:solidFill>
            <a:srgbClr val="BCDBD4"/>
          </a:solidFill>
          <a:ln/>
        </p:spPr>
      </p:sp>
      <p:sp>
        <p:nvSpPr>
          <p:cNvPr id="25" name="Shape 23"/>
          <p:cNvSpPr/>
          <p:nvPr/>
        </p:nvSpPr>
        <p:spPr>
          <a:xfrm>
            <a:off x="7091958" y="5868114"/>
            <a:ext cx="446484" cy="446484"/>
          </a:xfrm>
          <a:prstGeom prst="roundRect">
            <a:avLst>
              <a:gd name="adj" fmla="val 18670"/>
            </a:avLst>
          </a:prstGeom>
          <a:solidFill>
            <a:srgbClr val="D6F5EE"/>
          </a:solidFill>
          <a:ln w="7620">
            <a:solidFill>
              <a:srgbClr val="BCDBD4"/>
            </a:solidFill>
            <a:prstDash val="solid"/>
          </a:ln>
        </p:spPr>
      </p:sp>
      <p:sp>
        <p:nvSpPr>
          <p:cNvPr id="26" name="Text 24"/>
          <p:cNvSpPr/>
          <p:nvPr/>
        </p:nvSpPr>
        <p:spPr>
          <a:xfrm>
            <a:off x="7166372" y="5905321"/>
            <a:ext cx="297656" cy="372070"/>
          </a:xfrm>
          <a:prstGeom prst="rect">
            <a:avLst/>
          </a:prstGeom>
          <a:noFill/>
          <a:ln/>
        </p:spPr>
        <p:txBody>
          <a:bodyPr wrap="none" lIns="0" tIns="0" rIns="0" bIns="0" rtlCol="0" anchor="ctr"/>
          <a:lstStyle/>
          <a:p>
            <a:pPr marL="0" indent="0" algn="ctr">
              <a:lnSpc>
                <a:spcPts val="2300"/>
              </a:lnSpc>
              <a:buNone/>
            </a:pPr>
            <a:r>
              <a:rPr lang="en-US" sz="2300" b="1" dirty="0">
                <a:solidFill>
                  <a:srgbClr val="333F70"/>
                </a:solidFill>
                <a:latin typeface="Times New Roman" panose="02020603050405020304" pitchFamily="18" charset="0"/>
                <a:ea typeface="Unbounded Bold" pitchFamily="34" charset="-122"/>
                <a:cs typeface="Times New Roman" panose="02020603050405020304" pitchFamily="18" charset="0"/>
              </a:rPr>
              <a:t>5</a:t>
            </a:r>
            <a:endParaRPr lang="en-US" sz="2300" dirty="0">
              <a:latin typeface="Times New Roman" panose="02020603050405020304" pitchFamily="18" charset="0"/>
              <a:cs typeface="Times New Roman" panose="02020603050405020304" pitchFamily="18" charset="0"/>
            </a:endParaRPr>
          </a:p>
        </p:txBody>
      </p:sp>
      <p:sp>
        <p:nvSpPr>
          <p:cNvPr id="27" name="Text 25"/>
          <p:cNvSpPr/>
          <p:nvPr/>
        </p:nvSpPr>
        <p:spPr>
          <a:xfrm>
            <a:off x="1975366" y="5936337"/>
            <a:ext cx="4347567" cy="310158"/>
          </a:xfrm>
          <a:prstGeom prst="rect">
            <a:avLst/>
          </a:prstGeom>
          <a:noFill/>
          <a:ln/>
        </p:spPr>
        <p:txBody>
          <a:bodyPr wrap="none" lIns="0" tIns="0" rIns="0" bIns="0" rtlCol="0" anchor="t"/>
          <a:lstStyle/>
          <a:p>
            <a:pPr marL="0" indent="0" algn="r">
              <a:lnSpc>
                <a:spcPts val="2400"/>
              </a:lnSpc>
              <a:buNone/>
            </a:pPr>
            <a:r>
              <a:rPr lang="en-US" sz="2800" b="1" dirty="0">
                <a:solidFill>
                  <a:srgbClr val="333F70"/>
                </a:solidFill>
                <a:latin typeface="Times New Roman" panose="02020603050405020304" pitchFamily="18" charset="0"/>
                <a:ea typeface="Unbounded Bold" pitchFamily="34" charset="-122"/>
                <a:cs typeface="Times New Roman" panose="02020603050405020304" pitchFamily="18" charset="0"/>
              </a:rPr>
              <a:t>1990–1995 — Web &amp; Growth</a:t>
            </a:r>
            <a:endParaRPr lang="en-US" sz="2800" dirty="0">
              <a:latin typeface="Times New Roman" panose="02020603050405020304" pitchFamily="18" charset="0"/>
              <a:cs typeface="Times New Roman" panose="02020603050405020304" pitchFamily="18" charset="0"/>
            </a:endParaRPr>
          </a:p>
        </p:txBody>
      </p:sp>
      <p:sp>
        <p:nvSpPr>
          <p:cNvPr id="28" name="Text 26"/>
          <p:cNvSpPr/>
          <p:nvPr/>
        </p:nvSpPr>
        <p:spPr>
          <a:xfrm>
            <a:off x="2632238" y="6312502"/>
            <a:ext cx="4233267" cy="635079"/>
          </a:xfrm>
          <a:prstGeom prst="rect">
            <a:avLst/>
          </a:prstGeom>
          <a:noFill/>
          <a:ln/>
        </p:spPr>
        <p:txBody>
          <a:bodyPr wrap="square" lIns="0" tIns="0" rIns="0" bIns="0" rtlCol="0" anchor="t"/>
          <a:lstStyle/>
          <a:p>
            <a:pPr marL="0" indent="0" algn="ctr">
              <a:lnSpc>
                <a:spcPts val="2500"/>
              </a:lnSpc>
              <a:buNone/>
            </a:pPr>
            <a:r>
              <a:rPr lang="en-US" sz="2000" dirty="0">
                <a:solidFill>
                  <a:srgbClr val="333F70"/>
                </a:solidFill>
                <a:latin typeface="Times New Roman" panose="02020603050405020304" pitchFamily="18" charset="0"/>
                <a:ea typeface="Open Sans" pitchFamily="34" charset="-122"/>
                <a:cs typeface="Times New Roman" panose="02020603050405020304" pitchFamily="18" charset="0"/>
              </a:rPr>
              <a:t>World Wide Web created; web browsers and commercial use expand rapidly.</a:t>
            </a:r>
            <a:endParaRPr lang="en-US" sz="2000" dirty="0">
              <a:latin typeface="Times New Roman" panose="02020603050405020304" pitchFamily="18" charset="0"/>
              <a:cs typeface="Times New Roman" panose="02020603050405020304" pitchFamily="18" charset="0"/>
            </a:endParaRPr>
          </a:p>
        </p:txBody>
      </p:sp>
      <p:sp>
        <p:nvSpPr>
          <p:cNvPr id="29" name="Rectangle 28">
            <a:extLst>
              <a:ext uri="{FF2B5EF4-FFF2-40B4-BE49-F238E27FC236}">
                <a16:creationId xmlns:a16="http://schemas.microsoft.com/office/drawing/2014/main" id="{27BC5A94-5A80-4794-A9C1-08AB10096E02}"/>
              </a:ext>
            </a:extLst>
          </p:cNvPr>
          <p:cNvSpPr/>
          <p:nvPr/>
        </p:nvSpPr>
        <p:spPr>
          <a:xfrm>
            <a:off x="12466320" y="7711440"/>
            <a:ext cx="2133600" cy="45720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nvSpPr>
        <p:spPr>
          <a:xfrm>
            <a:off x="703624" y="665758"/>
            <a:ext cx="10260034" cy="2767765"/>
          </a:xfrm>
          <a:prstGeom prst="rect">
            <a:avLst/>
          </a:prstGeom>
          <a:noFill/>
          <a:ln/>
        </p:spPr>
        <p:txBody>
          <a:bodyPr wrap="square" lIns="0" tIns="0" rIns="0" bIns="0" rtlCol="0" anchor="t"/>
          <a:lstStyle/>
          <a:p>
            <a:pPr marL="0" indent="0" algn="l">
              <a:buNone/>
            </a:pPr>
            <a:r>
              <a:rPr lang="en-US" sz="5400" b="1" dirty="0">
                <a:solidFill>
                  <a:srgbClr val="333F70"/>
                </a:solidFill>
                <a:latin typeface="Times New Roman" panose="02020603050405020304" pitchFamily="18" charset="0"/>
                <a:ea typeface="Unbounded Bold" pitchFamily="34" charset="-122"/>
                <a:cs typeface="Times New Roman" panose="02020603050405020304" pitchFamily="18" charset="0"/>
              </a:rPr>
              <a:t>The Internet: A Revolution in Communication</a:t>
            </a:r>
            <a:endParaRPr lang="en-US" sz="5400" dirty="0">
              <a:latin typeface="Times New Roman" panose="02020603050405020304" pitchFamily="18" charset="0"/>
              <a:cs typeface="Times New Roman" panose="02020603050405020304" pitchFamily="18" charset="0"/>
            </a:endParaRPr>
          </a:p>
        </p:txBody>
      </p:sp>
      <p:sp>
        <p:nvSpPr>
          <p:cNvPr id="4" name="Text 1"/>
          <p:cNvSpPr/>
          <p:nvPr/>
        </p:nvSpPr>
        <p:spPr>
          <a:xfrm>
            <a:off x="703624" y="2976057"/>
            <a:ext cx="6949673" cy="3737260"/>
          </a:xfrm>
          <a:prstGeom prst="rect">
            <a:avLst/>
          </a:prstGeom>
          <a:noFill/>
          <a:ln/>
        </p:spPr>
        <p:txBody>
          <a:bodyPr wrap="square" lIns="0" tIns="0" rIns="0" bIns="0" rtlCol="0" anchor="t"/>
          <a:lstStyle/>
          <a:p>
            <a:pPr marL="0" indent="0" algn="l">
              <a:buNone/>
            </a:pPr>
            <a:r>
              <a:rPr lang="en-US" sz="3200" dirty="0">
                <a:solidFill>
                  <a:srgbClr val="333F70"/>
                </a:solidFill>
                <a:latin typeface="Times New Roman" panose="02020603050405020304" pitchFamily="18" charset="0"/>
                <a:ea typeface="Open Sans" pitchFamily="34" charset="-122"/>
                <a:cs typeface="Times New Roman" panose="02020603050405020304" pitchFamily="18" charset="0"/>
              </a:rPr>
              <a:t>The internet transformed how we communicate, learn and work. What began as specialised research tools became public platforms for commerce, education and social life. Today, its benefits come with responsibilities — privacy, security and equal access remain important global challenges.</a:t>
            </a:r>
            <a:endParaRPr lang="en-US" sz="3200" dirty="0">
              <a:latin typeface="Times New Roman" panose="02020603050405020304" pitchFamily="18" charset="0"/>
              <a:cs typeface="Times New Roman" panose="02020603050405020304" pitchFamily="18" charset="0"/>
            </a:endParaRPr>
          </a:p>
        </p:txBody>
      </p:sp>
      <p:pic>
        <p:nvPicPr>
          <p:cNvPr id="2050" name="Picture 2" descr="The Internet Revolution and its Impact on the Web Industry - SMF">
            <a:extLst>
              <a:ext uri="{FF2B5EF4-FFF2-40B4-BE49-F238E27FC236}">
                <a16:creationId xmlns:a16="http://schemas.microsoft.com/office/drawing/2014/main" id="{33194B89-9E83-475E-A5A8-AC6E9E17D5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63132" y="2049641"/>
            <a:ext cx="7067268" cy="5215473"/>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A7C5E70A-E271-451D-9EA3-D58582FB0DA9}"/>
              </a:ext>
            </a:extLst>
          </p:cNvPr>
          <p:cNvSpPr/>
          <p:nvPr/>
        </p:nvSpPr>
        <p:spPr>
          <a:xfrm>
            <a:off x="12466320" y="7711440"/>
            <a:ext cx="2133600" cy="45720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268849"/>
            <a:ext cx="5965269" cy="496133"/>
          </a:xfrm>
          <a:prstGeom prst="rect">
            <a:avLst/>
          </a:prstGeom>
          <a:noFill/>
          <a:ln/>
        </p:spPr>
        <p:txBody>
          <a:bodyPr wrap="none" lIns="0" tIns="0" rIns="0" bIns="0" rtlCol="0" anchor="t"/>
          <a:lstStyle/>
          <a:p>
            <a:pPr marL="0" indent="0" algn="l">
              <a:lnSpc>
                <a:spcPts val="3900"/>
              </a:lnSpc>
              <a:buNone/>
            </a:pPr>
            <a:r>
              <a:rPr lang="en-US" sz="5400" b="1" dirty="0">
                <a:solidFill>
                  <a:srgbClr val="333F70"/>
                </a:solidFill>
                <a:latin typeface="Times New Roman" panose="02020603050405020304" pitchFamily="18" charset="0"/>
                <a:ea typeface="Unbounded Bold" pitchFamily="34" charset="-122"/>
                <a:cs typeface="Times New Roman" panose="02020603050405020304" pitchFamily="18" charset="0"/>
              </a:rPr>
              <a:t>References</a:t>
            </a:r>
            <a:endParaRPr lang="en-US" sz="5400" dirty="0">
              <a:latin typeface="Times New Roman" panose="02020603050405020304" pitchFamily="18" charset="0"/>
              <a:cs typeface="Times New Roman" panose="02020603050405020304" pitchFamily="18" charset="0"/>
            </a:endParaRPr>
          </a:p>
        </p:txBody>
      </p:sp>
      <p:sp>
        <p:nvSpPr>
          <p:cNvPr id="4" name="Shape 1"/>
          <p:cNvSpPr/>
          <p:nvPr/>
        </p:nvSpPr>
        <p:spPr>
          <a:xfrm>
            <a:off x="793790" y="2062639"/>
            <a:ext cx="2386489" cy="4039672"/>
          </a:xfrm>
          <a:prstGeom prst="roundRect">
            <a:avLst>
              <a:gd name="adj" fmla="val 3493"/>
            </a:avLst>
          </a:prstGeom>
          <a:solidFill>
            <a:srgbClr val="FFFFFF"/>
          </a:solidFill>
          <a:ln w="22860">
            <a:solidFill>
              <a:srgbClr val="BCDBD4"/>
            </a:solidFill>
            <a:prstDash val="solid"/>
          </a:ln>
        </p:spPr>
      </p:sp>
      <p:sp>
        <p:nvSpPr>
          <p:cNvPr id="5" name="Text 2"/>
          <p:cNvSpPr/>
          <p:nvPr/>
        </p:nvSpPr>
        <p:spPr>
          <a:xfrm>
            <a:off x="1015008" y="2283857"/>
            <a:ext cx="1944053" cy="620316"/>
          </a:xfrm>
          <a:prstGeom prst="rect">
            <a:avLst/>
          </a:prstGeom>
          <a:noFill/>
          <a:ln/>
        </p:spPr>
        <p:txBody>
          <a:bodyPr wrap="square" lIns="0" tIns="0" rIns="0" bIns="0" rtlCol="0" anchor="t"/>
          <a:lstStyle/>
          <a:p>
            <a:pPr marL="0" indent="0" algn="l">
              <a:lnSpc>
                <a:spcPts val="2400"/>
              </a:lnSpc>
              <a:buNone/>
            </a:pPr>
            <a:r>
              <a:rPr lang="en-US" sz="2800" b="1" dirty="0">
                <a:solidFill>
                  <a:srgbClr val="333F70"/>
                </a:solidFill>
                <a:latin typeface="Times New Roman" panose="02020603050405020304" pitchFamily="18" charset="0"/>
                <a:ea typeface="Unbounded Bold" pitchFamily="34" charset="-122"/>
                <a:cs typeface="Times New Roman" panose="02020603050405020304" pitchFamily="18" charset="0"/>
              </a:rPr>
              <a:t>Primary Sources</a:t>
            </a:r>
            <a:endParaRPr lang="en-US" sz="2800" dirty="0">
              <a:latin typeface="Times New Roman" panose="02020603050405020304" pitchFamily="18" charset="0"/>
              <a:cs typeface="Times New Roman" panose="02020603050405020304" pitchFamily="18" charset="0"/>
            </a:endParaRPr>
          </a:p>
        </p:txBody>
      </p:sp>
      <p:sp>
        <p:nvSpPr>
          <p:cNvPr id="6" name="Text 3"/>
          <p:cNvSpPr/>
          <p:nvPr/>
        </p:nvSpPr>
        <p:spPr>
          <a:xfrm>
            <a:off x="1015008" y="3023235"/>
            <a:ext cx="1944053" cy="2540318"/>
          </a:xfrm>
          <a:prstGeom prst="rect">
            <a:avLst/>
          </a:prstGeom>
          <a:noFill/>
          <a:ln/>
        </p:spPr>
        <p:txBody>
          <a:bodyPr wrap="square" lIns="0" tIns="0" rIns="0" bIns="0" rtlCol="0" anchor="t"/>
          <a:lstStyle/>
          <a:p>
            <a:pPr marL="0" indent="0" algn="l">
              <a:lnSpc>
                <a:spcPts val="2500"/>
              </a:lnSpc>
              <a:buNone/>
            </a:pPr>
            <a:r>
              <a:rPr lang="en-US" sz="2000" dirty="0">
                <a:solidFill>
                  <a:srgbClr val="333F70"/>
                </a:solidFill>
                <a:latin typeface="Times New Roman" panose="02020603050405020304" pitchFamily="18" charset="0"/>
                <a:ea typeface="Open Sans" pitchFamily="34" charset="-122"/>
                <a:cs typeface="Times New Roman" panose="02020603050405020304" pitchFamily="18" charset="0"/>
              </a:rPr>
              <a:t>         Internet Society — "Brief History of the Internet"</a:t>
            </a:r>
            <a:endParaRPr lang="en-US" sz="2000" dirty="0">
              <a:latin typeface="Times New Roman" panose="02020603050405020304" pitchFamily="18" charset="0"/>
              <a:cs typeface="Times New Roman" panose="02020603050405020304" pitchFamily="18" charset="0"/>
            </a:endParaRPr>
          </a:p>
          <a:p>
            <a:pPr marL="0" indent="0" algn="l">
              <a:lnSpc>
                <a:spcPts val="2500"/>
              </a:lnSpc>
              <a:buNone/>
            </a:pPr>
            <a:r>
              <a:rPr lang="en-US" sz="2000" dirty="0">
                <a:solidFill>
                  <a:srgbClr val="333F70"/>
                </a:solidFill>
                <a:latin typeface="Times New Roman" panose="02020603050405020304" pitchFamily="18" charset="0"/>
                <a:ea typeface="Open Sans" pitchFamily="34" charset="-122"/>
                <a:cs typeface="Times New Roman" panose="02020603050405020304" pitchFamily="18" charset="0"/>
              </a:rPr>
              <a:t>         https://www.internetsociety.org/resources/doc/2017/brief-history-internet/       </a:t>
            </a:r>
            <a:endParaRPr lang="en-US" sz="2000" dirty="0">
              <a:latin typeface="Times New Roman" panose="02020603050405020304" pitchFamily="18" charset="0"/>
              <a:cs typeface="Times New Roman" panose="02020603050405020304" pitchFamily="18" charset="0"/>
            </a:endParaRPr>
          </a:p>
        </p:txBody>
      </p:sp>
      <p:sp>
        <p:nvSpPr>
          <p:cNvPr id="7" name="Shape 4"/>
          <p:cNvSpPr/>
          <p:nvPr/>
        </p:nvSpPr>
        <p:spPr>
          <a:xfrm>
            <a:off x="3378637" y="2062639"/>
            <a:ext cx="2386608" cy="4039672"/>
          </a:xfrm>
          <a:prstGeom prst="roundRect">
            <a:avLst>
              <a:gd name="adj" fmla="val 3493"/>
            </a:avLst>
          </a:prstGeom>
          <a:solidFill>
            <a:srgbClr val="FFFFFF"/>
          </a:solidFill>
          <a:ln w="22860">
            <a:solidFill>
              <a:srgbClr val="BCDBD4"/>
            </a:solidFill>
            <a:prstDash val="solid"/>
          </a:ln>
        </p:spPr>
      </p:sp>
      <p:sp>
        <p:nvSpPr>
          <p:cNvPr id="8" name="Text 5"/>
          <p:cNvSpPr/>
          <p:nvPr/>
        </p:nvSpPr>
        <p:spPr>
          <a:xfrm>
            <a:off x="3599855" y="2283857"/>
            <a:ext cx="1944172" cy="620316"/>
          </a:xfrm>
          <a:prstGeom prst="rect">
            <a:avLst/>
          </a:prstGeom>
          <a:noFill/>
          <a:ln/>
        </p:spPr>
        <p:txBody>
          <a:bodyPr wrap="square" lIns="0" tIns="0" rIns="0" bIns="0" rtlCol="0" anchor="t"/>
          <a:lstStyle/>
          <a:p>
            <a:pPr marL="0" indent="0" algn="l">
              <a:lnSpc>
                <a:spcPts val="2400"/>
              </a:lnSpc>
              <a:buNone/>
            </a:pPr>
            <a:r>
              <a:rPr lang="en-US" sz="2800" b="1" dirty="0">
                <a:solidFill>
                  <a:srgbClr val="333F70"/>
                </a:solidFill>
                <a:latin typeface="Times New Roman" panose="02020603050405020304" pitchFamily="18" charset="0"/>
                <a:ea typeface="Unbounded Bold" pitchFamily="34" charset="-122"/>
                <a:cs typeface="Times New Roman" panose="02020603050405020304" pitchFamily="18" charset="0"/>
              </a:rPr>
              <a:t>Academic Overview</a:t>
            </a:r>
            <a:endParaRPr lang="en-US" sz="2800" dirty="0">
              <a:latin typeface="Times New Roman" panose="02020603050405020304" pitchFamily="18" charset="0"/>
              <a:cs typeface="Times New Roman" panose="02020603050405020304" pitchFamily="18" charset="0"/>
            </a:endParaRPr>
          </a:p>
        </p:txBody>
      </p:sp>
      <p:sp>
        <p:nvSpPr>
          <p:cNvPr id="9" name="Text 6"/>
          <p:cNvSpPr/>
          <p:nvPr/>
        </p:nvSpPr>
        <p:spPr>
          <a:xfrm>
            <a:off x="3599855" y="3023235"/>
            <a:ext cx="1944172" cy="2857857"/>
          </a:xfrm>
          <a:prstGeom prst="rect">
            <a:avLst/>
          </a:prstGeom>
          <a:noFill/>
          <a:ln/>
        </p:spPr>
        <p:txBody>
          <a:bodyPr wrap="square" lIns="0" tIns="0" rIns="0" bIns="0" rtlCol="0" anchor="t"/>
          <a:lstStyle/>
          <a:p>
            <a:pPr marL="0" indent="0" algn="l">
              <a:lnSpc>
                <a:spcPts val="2500"/>
              </a:lnSpc>
              <a:buNone/>
            </a:pPr>
            <a:r>
              <a:rPr lang="en-US" sz="1550" dirty="0">
                <a:solidFill>
                  <a:srgbClr val="333F70"/>
                </a:solidFill>
                <a:latin typeface="Times New Roman" panose="02020603050405020304" pitchFamily="18" charset="0"/>
                <a:ea typeface="Open Sans" pitchFamily="34" charset="-122"/>
                <a:cs typeface="Times New Roman" panose="02020603050405020304" pitchFamily="18" charset="0"/>
              </a:rPr>
              <a:t>         </a:t>
            </a:r>
            <a:r>
              <a:rPr lang="en-US" sz="2000" dirty="0">
                <a:solidFill>
                  <a:srgbClr val="333F70"/>
                </a:solidFill>
                <a:latin typeface="Times New Roman" panose="02020603050405020304" pitchFamily="18" charset="0"/>
                <a:ea typeface="Open Sans" pitchFamily="34" charset="-122"/>
                <a:cs typeface="Times New Roman" panose="02020603050405020304" pitchFamily="18" charset="0"/>
              </a:rPr>
              <a:t>UC Berkeley School of Information — HOFIInternetI4-23</a:t>
            </a:r>
            <a:endParaRPr lang="en-US" sz="2000" dirty="0">
              <a:latin typeface="Times New Roman" panose="02020603050405020304" pitchFamily="18" charset="0"/>
              <a:cs typeface="Times New Roman" panose="02020603050405020304" pitchFamily="18" charset="0"/>
            </a:endParaRPr>
          </a:p>
          <a:p>
            <a:pPr marL="0" indent="0" algn="l">
              <a:lnSpc>
                <a:spcPts val="2500"/>
              </a:lnSpc>
              <a:buNone/>
            </a:pPr>
            <a:r>
              <a:rPr lang="en-US" sz="2000" dirty="0">
                <a:solidFill>
                  <a:srgbClr val="333F70"/>
                </a:solidFill>
                <a:latin typeface="Times New Roman" panose="02020603050405020304" pitchFamily="18" charset="0"/>
                <a:ea typeface="Open Sans" pitchFamily="34" charset="-122"/>
                <a:cs typeface="Times New Roman" panose="02020603050405020304" pitchFamily="18" charset="0"/>
              </a:rPr>
              <a:t>         https://courses.ischool.berkeley.edu/i103/s09/slides/HOFIInternetI4-23.pdf       </a:t>
            </a:r>
            <a:endParaRPr lang="en-US" sz="2000" dirty="0">
              <a:latin typeface="Times New Roman" panose="02020603050405020304" pitchFamily="18" charset="0"/>
              <a:cs typeface="Times New Roman" panose="02020603050405020304" pitchFamily="18" charset="0"/>
            </a:endParaRPr>
          </a:p>
        </p:txBody>
      </p:sp>
      <p:sp>
        <p:nvSpPr>
          <p:cNvPr id="10" name="Shape 7"/>
          <p:cNvSpPr/>
          <p:nvPr/>
        </p:nvSpPr>
        <p:spPr>
          <a:xfrm>
            <a:off x="5963603" y="2062639"/>
            <a:ext cx="2386608" cy="4039672"/>
          </a:xfrm>
          <a:prstGeom prst="roundRect">
            <a:avLst>
              <a:gd name="adj" fmla="val 3493"/>
            </a:avLst>
          </a:prstGeom>
          <a:solidFill>
            <a:srgbClr val="FFFFFF"/>
          </a:solidFill>
          <a:ln w="22860">
            <a:solidFill>
              <a:srgbClr val="BCDBD4"/>
            </a:solidFill>
            <a:prstDash val="solid"/>
          </a:ln>
        </p:spPr>
      </p:sp>
      <p:sp>
        <p:nvSpPr>
          <p:cNvPr id="11" name="Text 8"/>
          <p:cNvSpPr/>
          <p:nvPr/>
        </p:nvSpPr>
        <p:spPr>
          <a:xfrm>
            <a:off x="6184821" y="2283857"/>
            <a:ext cx="1944172" cy="310158"/>
          </a:xfrm>
          <a:prstGeom prst="rect">
            <a:avLst/>
          </a:prstGeom>
          <a:noFill/>
          <a:ln/>
        </p:spPr>
        <p:txBody>
          <a:bodyPr wrap="none" lIns="0" tIns="0" rIns="0" bIns="0" rtlCol="0" anchor="t"/>
          <a:lstStyle/>
          <a:p>
            <a:pPr marL="0" indent="0" algn="l">
              <a:lnSpc>
                <a:spcPts val="2400"/>
              </a:lnSpc>
              <a:buNone/>
            </a:pPr>
            <a:r>
              <a:rPr lang="en-US" sz="2800" b="1" dirty="0">
                <a:solidFill>
                  <a:srgbClr val="333F70"/>
                </a:solidFill>
                <a:latin typeface="Times New Roman" panose="02020603050405020304" pitchFamily="18" charset="0"/>
                <a:ea typeface="Unbounded Bold" pitchFamily="34" charset="-122"/>
                <a:cs typeface="Times New Roman" panose="02020603050405020304" pitchFamily="18" charset="0"/>
              </a:rPr>
              <a:t>Web History</a:t>
            </a:r>
            <a:endParaRPr lang="en-US" sz="2800" dirty="0">
              <a:latin typeface="Times New Roman" panose="02020603050405020304" pitchFamily="18" charset="0"/>
              <a:cs typeface="Times New Roman" panose="02020603050405020304" pitchFamily="18" charset="0"/>
            </a:endParaRPr>
          </a:p>
        </p:txBody>
      </p:sp>
      <p:sp>
        <p:nvSpPr>
          <p:cNvPr id="12" name="Text 9"/>
          <p:cNvSpPr/>
          <p:nvPr/>
        </p:nvSpPr>
        <p:spPr>
          <a:xfrm>
            <a:off x="6184821" y="2713077"/>
            <a:ext cx="1944172" cy="2857857"/>
          </a:xfrm>
          <a:prstGeom prst="rect">
            <a:avLst/>
          </a:prstGeom>
          <a:noFill/>
          <a:ln/>
        </p:spPr>
        <p:txBody>
          <a:bodyPr wrap="square" lIns="0" tIns="0" rIns="0" bIns="0" rtlCol="0" anchor="t"/>
          <a:lstStyle/>
          <a:p>
            <a:pPr marL="0" indent="0" algn="l">
              <a:lnSpc>
                <a:spcPts val="2500"/>
              </a:lnSpc>
              <a:buNone/>
            </a:pPr>
            <a:r>
              <a:rPr lang="en-US" sz="1550" dirty="0">
                <a:solidFill>
                  <a:srgbClr val="333F70"/>
                </a:solidFill>
                <a:latin typeface="Times New Roman" panose="02020603050405020304" pitchFamily="18" charset="0"/>
                <a:ea typeface="Open Sans" pitchFamily="34" charset="-122"/>
                <a:cs typeface="Times New Roman" panose="02020603050405020304" pitchFamily="18" charset="0"/>
              </a:rPr>
              <a:t>         </a:t>
            </a:r>
            <a:r>
              <a:rPr lang="en-US" sz="2000" dirty="0">
                <a:solidFill>
                  <a:srgbClr val="333F70"/>
                </a:solidFill>
                <a:latin typeface="Times New Roman" panose="02020603050405020304" pitchFamily="18" charset="0"/>
                <a:ea typeface="Open Sans" pitchFamily="34" charset="-122"/>
                <a:cs typeface="Times New Roman" panose="02020603050405020304" pitchFamily="18" charset="0"/>
              </a:rPr>
              <a:t>Frank McCown — "A Short History of the Internet and the Web"</a:t>
            </a:r>
            <a:endParaRPr lang="en-US" sz="2000" dirty="0">
              <a:latin typeface="Times New Roman" panose="02020603050405020304" pitchFamily="18" charset="0"/>
              <a:cs typeface="Times New Roman" panose="02020603050405020304" pitchFamily="18" charset="0"/>
            </a:endParaRPr>
          </a:p>
          <a:p>
            <a:pPr marL="0" indent="0" algn="l">
              <a:lnSpc>
                <a:spcPts val="2500"/>
              </a:lnSpc>
              <a:buNone/>
            </a:pPr>
            <a:r>
              <a:rPr lang="en-US" sz="2000" dirty="0">
                <a:solidFill>
                  <a:srgbClr val="333F70"/>
                </a:solidFill>
                <a:latin typeface="Times New Roman" panose="02020603050405020304" pitchFamily="18" charset="0"/>
                <a:ea typeface="Open Sans" pitchFamily="34" charset="-122"/>
                <a:cs typeface="Times New Roman" panose="02020603050405020304" pitchFamily="18" charset="0"/>
              </a:rPr>
              <a:t>         https://sites.harding.edu/fmccown/history-of-internet-and-web.pdf       </a:t>
            </a:r>
            <a:endParaRPr lang="en-US" sz="2000" dirty="0">
              <a:latin typeface="Times New Roman" panose="02020603050405020304" pitchFamily="18" charset="0"/>
              <a:cs typeface="Times New Roman" panose="02020603050405020304" pitchFamily="18" charset="0"/>
            </a:endParaRPr>
          </a:p>
        </p:txBody>
      </p:sp>
      <p:sp>
        <p:nvSpPr>
          <p:cNvPr id="13" name="Text 10"/>
          <p:cNvSpPr/>
          <p:nvPr/>
        </p:nvSpPr>
        <p:spPr>
          <a:xfrm>
            <a:off x="666409" y="6960751"/>
            <a:ext cx="7556421" cy="635079"/>
          </a:xfrm>
          <a:prstGeom prst="rect">
            <a:avLst/>
          </a:prstGeom>
          <a:noFill/>
          <a:ln/>
        </p:spPr>
        <p:txBody>
          <a:bodyPr wrap="square" lIns="0" tIns="0" rIns="0" bIns="0" rtlCol="0" anchor="t"/>
          <a:lstStyle/>
          <a:p>
            <a:pPr marL="0" indent="0" algn="ctr">
              <a:buNone/>
            </a:pPr>
            <a:r>
              <a:rPr lang="en-US" sz="2800" dirty="0">
                <a:solidFill>
                  <a:srgbClr val="333F70"/>
                </a:solidFill>
                <a:latin typeface="Times New Roman" panose="02020603050405020304" pitchFamily="18" charset="0"/>
                <a:ea typeface="Open Sans" pitchFamily="34" charset="-122"/>
                <a:cs typeface="Times New Roman" panose="02020603050405020304" pitchFamily="18" charset="0"/>
              </a:rPr>
              <a:t> If you have questions, I’m happy to expand any slide or add simple speaker notes.</a:t>
            </a: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08DDCB-1D07-4D0E-A9E4-65C71338513D}"/>
              </a:ext>
            </a:extLst>
          </p:cNvPr>
          <p:cNvSpPr/>
          <p:nvPr/>
        </p:nvSpPr>
        <p:spPr>
          <a:xfrm>
            <a:off x="12466320" y="7711440"/>
            <a:ext cx="2133600" cy="45720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F7D1B013-9994-4985-8A65-299CDEA33E0F}"/>
              </a:ext>
            </a:extLst>
          </p:cNvPr>
          <p:cNvSpPr txBox="1"/>
          <p:nvPr/>
        </p:nvSpPr>
        <p:spPr>
          <a:xfrm>
            <a:off x="4699707" y="4114800"/>
            <a:ext cx="7766613" cy="621324"/>
          </a:xfrm>
          <a:prstGeom prst="rect">
            <a:avLst/>
          </a:prstGeom>
          <a:noFill/>
        </p:spPr>
        <p:txBody>
          <a:bodyPr wrap="square">
            <a:spAutoFit/>
          </a:bodyPr>
          <a:lstStyle/>
          <a:p>
            <a:pPr marL="0" indent="0" algn="l">
              <a:lnSpc>
                <a:spcPts val="2500"/>
              </a:lnSpc>
              <a:buNone/>
            </a:pPr>
            <a:r>
              <a:rPr lang="en-US" sz="9600" dirty="0">
                <a:solidFill>
                  <a:srgbClr val="333F70"/>
                </a:solidFill>
                <a:latin typeface="Times New Roman" panose="02020603050405020304" pitchFamily="18" charset="0"/>
                <a:ea typeface="Open Sans" pitchFamily="34" charset="-122"/>
                <a:cs typeface="Times New Roman" panose="02020603050405020304" pitchFamily="18" charset="0"/>
              </a:rPr>
              <a:t>Thank You</a:t>
            </a:r>
            <a:endParaRPr lang="en-US" sz="9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26011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1510</TotalTime>
  <Words>884</Words>
  <Application>Microsoft Office PowerPoint</Application>
  <PresentationFormat>Custom</PresentationFormat>
  <Paragraphs>99</Paragraphs>
  <Slides>12</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Times New Roman</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MUSFIQ ALAM</cp:lastModifiedBy>
  <cp:revision>21</cp:revision>
  <dcterms:created xsi:type="dcterms:W3CDTF">2026-04-30T13:46:14Z</dcterms:created>
  <dcterms:modified xsi:type="dcterms:W3CDTF">2026-05-15T12:42:51Z</dcterms:modified>
</cp:coreProperties>
</file>